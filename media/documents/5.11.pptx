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549" r:id="rId2"/>
    <p:sldId id="406" r:id="rId3"/>
    <p:sldId id="545" r:id="rId4"/>
    <p:sldId id="546" r:id="rId5"/>
    <p:sldId id="540" r:id="rId6"/>
    <p:sldId id="547" r:id="rId7"/>
    <p:sldId id="539" r:id="rId8"/>
    <p:sldId id="423" r:id="rId9"/>
    <p:sldId id="424" r:id="rId10"/>
    <p:sldId id="548" r:id="rId11"/>
    <p:sldId id="325" r:id="rId12"/>
    <p:sldId id="329" r:id="rId13"/>
    <p:sldId id="426" r:id="rId14"/>
  </p:sldIdLst>
  <p:sldSz cx="9144000" cy="6858000" type="screen4x3"/>
  <p:notesSz cx="6851650" cy="9747250"/>
  <p:defaultTextStyle>
    <a:defPPr>
      <a:defRPr lang="ru-RU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97AE"/>
    <a:srgbClr val="A6D2E3"/>
    <a:srgbClr val="FF9933"/>
    <a:srgbClr val="DDDDDD"/>
    <a:srgbClr val="EAEAEA"/>
    <a:srgbClr val="CCFFCC"/>
    <a:srgbClr val="FFFFCC"/>
    <a:srgbClr val="CCFFFF"/>
    <a:srgbClr val="FFCC99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5126" autoAdjust="0"/>
  </p:normalViewPr>
  <p:slideViewPr>
    <p:cSldViewPr>
      <p:cViewPr varScale="1">
        <p:scale>
          <a:sx n="110" d="100"/>
          <a:sy n="110" d="100"/>
        </p:scale>
        <p:origin x="1644" y="96"/>
      </p:cViewPr>
      <p:guideLst>
        <p:guide orient="horz" pos="2160"/>
        <p:guide pos="2880"/>
      </p:guideLst>
    </p:cSldViewPr>
  </p:slideViewPr>
  <p:outlineViewPr>
    <p:cViewPr>
      <p:scale>
        <a:sx n="75" d="100"/>
        <a:sy n="7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11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86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3025" y="0"/>
            <a:ext cx="29686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59888"/>
            <a:ext cx="2968625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3025" y="9259888"/>
            <a:ext cx="2968625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43080E9-6A08-4DC4-BBFC-564E99D7D3A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93520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4275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364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200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7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648200"/>
            <a:ext cx="50292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54278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64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427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2964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9313443-AEB8-48B0-BD06-D0B2E4459EA0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658566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81E707-A109-4625-819F-6A67156735F5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40474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49DA92-6CE1-4850-A61E-C16E5938137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77246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2D4332-D7F5-4919-9585-0E0CA474515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03628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61A603-7F8D-4370-9243-4FDE69CB4509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15245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7B8AEC-8887-4982-9817-B6A6944424F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214628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6DDCB8-1475-41A8-81A7-378C8D78F7A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34295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51F568-444D-428A-9548-9914B186FDE8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60439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52FDB2-7F60-481B-BBD0-EF5A8BD5AD5B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85414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BBF32C-6C10-4D53-B040-5A9141696B8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88994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F09453-F7E5-4C46-87C5-6919CA0CEC57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33669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FA7F06-6E95-4638-ABCF-689B6F38885B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57721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BE7A77A8-A014-499F-9F3E-C57A6FA8E25B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000" smtClean="0">
                <a:solidFill>
                  <a:srgbClr val="0033CC"/>
                </a:solidFill>
              </a:rPr>
              <a:t>Тема: Организация охраны труда на предприятиях.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smtClean="0"/>
              <a:t>Обучение по ОТ руководителей и специалистов.</a:t>
            </a:r>
          </a:p>
          <a:p>
            <a:r>
              <a:rPr lang="ru-RU" altLang="ru-RU" smtClean="0"/>
              <a:t>Система подготовки рабочих по ОТ.</a:t>
            </a:r>
          </a:p>
          <a:p>
            <a:r>
              <a:rPr lang="ru-RU" altLang="ru-RU" smtClean="0"/>
              <a:t>Инструктажи по безопасности труда.</a:t>
            </a:r>
          </a:p>
          <a:p>
            <a:r>
              <a:rPr lang="ru-RU" altLang="ru-RU" smtClean="0"/>
              <a:t>Состав и содержание типовой инструкции по охране труда.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ru-RU" altLang="ru-RU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457200" y="1905000"/>
            <a:ext cx="8305800" cy="27813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400" b="1">
                <a:latin typeface="Times New Roman" panose="02020603050405020304" pitchFamily="18" charset="0"/>
              </a:rPr>
              <a:t>         </a:t>
            </a:r>
            <a:r>
              <a:rPr lang="ru-RU" altLang="ru-RU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Работник обязан:(ст 214 ТК РФ)</a:t>
            </a:r>
            <a:endParaRPr lang="ru-RU" altLang="ru-RU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/>
            <a:r>
              <a:rPr lang="ru-RU" altLang="ru-RU" sz="1600">
                <a:latin typeface="Symbol" panose="05050102010706020507" pitchFamily="18" charset="2"/>
                <a:cs typeface="Times New Roman" panose="02020603050405020304" pitchFamily="18" charset="0"/>
              </a:rPr>
              <a:t>·</a:t>
            </a: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 добросовестно исполнять свои трудовые обязанности, возложенные на него трудовым договором;</a:t>
            </a:r>
            <a:endParaRPr lang="ru-RU" altLang="ru-RU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/>
            <a:r>
              <a:rPr lang="ru-RU" altLang="ru-RU" sz="1600">
                <a:latin typeface="Symbol" panose="05050102010706020507" pitchFamily="18" charset="2"/>
                <a:cs typeface="Times New Roman" panose="02020603050405020304" pitchFamily="18" charset="0"/>
              </a:rPr>
              <a:t>·</a:t>
            </a: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 соблюдать правила внутреннего трудового распорядка организации;</a:t>
            </a:r>
            <a:endParaRPr lang="ru-RU" altLang="ru-RU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/>
            <a:r>
              <a:rPr lang="ru-RU" altLang="ru-RU" sz="1600">
                <a:latin typeface="Symbol" panose="05050102010706020507" pitchFamily="18" charset="2"/>
                <a:cs typeface="Times New Roman" panose="02020603050405020304" pitchFamily="18" charset="0"/>
              </a:rPr>
              <a:t>·</a:t>
            </a: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 соблюдать трудовую дисциплину;</a:t>
            </a:r>
            <a:endParaRPr lang="ru-RU" altLang="ru-RU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/>
            <a:r>
              <a:rPr lang="ru-RU" altLang="ru-RU" sz="1600">
                <a:latin typeface="Symbol" panose="05050102010706020507" pitchFamily="18" charset="2"/>
                <a:cs typeface="Times New Roman" panose="02020603050405020304" pitchFamily="18" charset="0"/>
              </a:rPr>
              <a:t>·</a:t>
            </a: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 выполнять установленные нормы труда;</a:t>
            </a:r>
            <a:endParaRPr lang="ru-RU" altLang="ru-RU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/>
            <a:r>
              <a:rPr lang="ru-RU" altLang="ru-RU" sz="1600">
                <a:latin typeface="Symbol" panose="05050102010706020507" pitchFamily="18" charset="2"/>
                <a:cs typeface="Times New Roman" panose="02020603050405020304" pitchFamily="18" charset="0"/>
              </a:rPr>
              <a:t>·</a:t>
            </a: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 соблюдать требования по охране труда и обеспечению безопасности труда;</a:t>
            </a:r>
            <a:endParaRPr lang="ru-RU" altLang="ru-RU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/>
            <a:r>
              <a:rPr lang="ru-RU" altLang="ru-RU" sz="1600">
                <a:latin typeface="Symbol" panose="05050102010706020507" pitchFamily="18" charset="2"/>
                <a:cs typeface="Times New Roman" panose="02020603050405020304" pitchFamily="18" charset="0"/>
              </a:rPr>
              <a:t>·</a:t>
            </a: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 бережно относиться к имуществу работодателя и других работников;</a:t>
            </a:r>
            <a:endParaRPr lang="ru-RU" altLang="ru-RU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/>
            <a:r>
              <a:rPr lang="ru-RU" altLang="ru-RU" sz="1600">
                <a:latin typeface="Symbol" panose="05050102010706020507" pitchFamily="18" charset="2"/>
                <a:cs typeface="Times New Roman" panose="02020603050405020304" pitchFamily="18" charset="0"/>
              </a:rPr>
              <a:t>·</a:t>
            </a: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  незамедлительно сообщить работодателю либо непосредственному руководителю о возникновении ситуации, представляющей угрозу жизни и здоровью людей, сохранности имущества работодателя.</a:t>
            </a:r>
            <a:endParaRPr lang="ru-RU" altLang="ru-RU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1066800" y="166688"/>
            <a:ext cx="7391400" cy="366712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по охране труда руководителей и специалистов</a:t>
            </a:r>
            <a:r>
              <a:rPr lang="ru-RU" altLang="ru-RU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342900" y="2420938"/>
            <a:ext cx="7086600" cy="1400175"/>
          </a:xfrm>
          <a:prstGeom prst="rect">
            <a:avLst/>
          </a:prstGeom>
          <a:gradFill rotWithShape="0">
            <a:gsLst>
              <a:gs pos="0">
                <a:srgbClr val="EAEAEA"/>
              </a:gs>
              <a:gs pos="50000">
                <a:srgbClr val="FFFFFF"/>
              </a:gs>
              <a:gs pos="100000">
                <a:srgbClr val="EAEAEA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ru-RU" altLang="ru-RU" sz="1700" b="1">
                <a:latin typeface="Times New Roman" panose="02020603050405020304" pitchFamily="18" charset="0"/>
              </a:rPr>
              <a:t>       </a:t>
            </a:r>
            <a:r>
              <a:rPr lang="ru-RU" alt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по охране труда руководителей и специалистов проводится</a:t>
            </a:r>
            <a:r>
              <a:rPr lang="ru-RU" altLang="ru-RU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7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непосредственно самой организацией</a:t>
            </a:r>
            <a:r>
              <a:rPr lang="ru-RU" altLang="ru-RU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ru-RU" altLang="ru-RU" sz="17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образовательными учреждениями</a:t>
            </a:r>
            <a:r>
              <a:rPr lang="ru-RU" altLang="ru-RU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 профессионального образования, учебными центрами и другими учреждениями и организациями, осуществляющими образовательную деятельность, </a:t>
            </a:r>
            <a:r>
              <a:rPr lang="ru-RU" altLang="ru-RU" sz="17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при наличии у них лицензии</a:t>
            </a:r>
            <a:r>
              <a:rPr lang="ru-RU" altLang="ru-RU" sz="1700" b="1" u="sng">
                <a:latin typeface="Times New Roman" panose="02020603050405020304" pitchFamily="18" charset="0"/>
              </a:rPr>
              <a:t>.</a:t>
            </a:r>
            <a:r>
              <a:rPr lang="ru-RU" altLang="ru-RU" sz="17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ru-RU" sz="1700" b="1" u="sng">
              <a:latin typeface="Times New Roman" panose="02020603050405020304" pitchFamily="18" charset="0"/>
            </a:endParaRPr>
          </a:p>
        </p:txBody>
      </p:sp>
      <p:pic>
        <p:nvPicPr>
          <p:cNvPr id="4100" name="Picture 7" descr="bd06629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2420938"/>
            <a:ext cx="150495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1" name="Text Box 11"/>
          <p:cNvSpPr txBox="1">
            <a:spLocks noChangeArrowheads="1"/>
          </p:cNvSpPr>
          <p:nvPr/>
        </p:nvSpPr>
        <p:spPr bwMode="auto">
          <a:xfrm>
            <a:off x="257175" y="765175"/>
            <a:ext cx="8610600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889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ru-RU" altLang="ru-RU" sz="1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Руководители и специалисты организаций проходят специальное обучение по охране труда в объеме должностных обязанностей при поступлении на работу в течение первого месяца, далее - по мере необходимости, но </a:t>
            </a:r>
            <a:r>
              <a:rPr lang="ru-RU" altLang="ru-RU" sz="17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реже одного раза в три года</a:t>
            </a:r>
            <a:r>
              <a:rPr lang="ru-RU" altLang="ru-RU" sz="1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1700" b="1">
              <a:solidFill>
                <a:srgbClr val="FF0000"/>
              </a:solidFill>
            </a:endParaRPr>
          </a:p>
        </p:txBody>
      </p:sp>
      <p:sp>
        <p:nvSpPr>
          <p:cNvPr id="4102" name="Text Box 12"/>
          <p:cNvSpPr txBox="1">
            <a:spLocks noChangeArrowheads="1"/>
          </p:cNvSpPr>
          <p:nvPr/>
        </p:nvSpPr>
        <p:spPr bwMode="auto">
          <a:xfrm>
            <a:off x="342900" y="4400550"/>
            <a:ext cx="8686800" cy="1816100"/>
          </a:xfrm>
          <a:prstGeom prst="rect">
            <a:avLst/>
          </a:prstGeom>
          <a:gradFill rotWithShape="0">
            <a:gsLst>
              <a:gs pos="0">
                <a:srgbClr val="DDDDDD"/>
              </a:gs>
              <a:gs pos="50000">
                <a:srgbClr val="FFFFFF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400">
                <a:solidFill>
                  <a:srgbClr val="FF0000"/>
                </a:solidFill>
                <a:latin typeface="Times New Roman" panose="02020603050405020304" pitchFamily="18" charset="0"/>
              </a:rPr>
              <a:t>      </a:t>
            </a:r>
            <a:r>
              <a:rPr lang="ru-RU" altLang="ru-RU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Руководители и специалисты организации </a:t>
            </a:r>
            <a:r>
              <a:rPr lang="ru-RU" altLang="ru-RU" sz="1600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могут проходить обучение по охране труда</a:t>
            </a:r>
            <a:r>
              <a:rPr lang="ru-RU" altLang="ru-RU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проверку знаний требований охраны труда </a:t>
            </a:r>
            <a:r>
              <a:rPr lang="ru-RU" altLang="ru-RU" sz="16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самой организации</a:t>
            </a:r>
            <a:r>
              <a:rPr lang="ru-RU" altLang="ru-RU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имеющей комиссию по проверке знаний требований охраны труда</a:t>
            </a:r>
            <a:r>
              <a:rPr lang="ru-RU" altLang="ru-RU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160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algn="l" eaLnBrk="1" hangingPunct="1"/>
            <a:r>
              <a:rPr lang="ru-RU" altLang="ru-RU" sz="1600">
                <a:solidFill>
                  <a:srgbClr val="FF0000"/>
                </a:solidFill>
              </a:rPr>
              <a:t>      </a:t>
            </a:r>
            <a:r>
              <a:rPr lang="ru-RU" altLang="ru-RU" sz="1600">
                <a:solidFill>
                  <a:srgbClr val="FF0000"/>
                </a:solidFill>
                <a:cs typeface="Times New Roman" panose="02020603050405020304" pitchFamily="18" charset="0"/>
              </a:rPr>
              <a:t>Обучение по охране труда руководителей и специалистов в организации проводится </a:t>
            </a:r>
            <a:r>
              <a:rPr lang="ru-RU" altLang="ru-RU" sz="1600" b="1" u="sng">
                <a:solidFill>
                  <a:srgbClr val="FF0000"/>
                </a:solidFill>
                <a:cs typeface="Times New Roman" panose="02020603050405020304" pitchFamily="18" charset="0"/>
              </a:rPr>
              <a:t>по программам обучения по охране труда</a:t>
            </a:r>
            <a:r>
              <a:rPr lang="ru-RU" altLang="ru-RU" sz="1600">
                <a:solidFill>
                  <a:srgbClr val="FF0000"/>
                </a:solidFill>
                <a:cs typeface="Times New Roman" panose="02020603050405020304" pitchFamily="18" charset="0"/>
              </a:rPr>
              <a:t>, разрабатываемым на основе примерных учебных планов и программ обучения по охране труда, </a:t>
            </a:r>
            <a:r>
              <a:rPr lang="ru-RU" altLang="ru-RU" sz="1600" b="1">
                <a:solidFill>
                  <a:srgbClr val="FF0000"/>
                </a:solidFill>
                <a:cs typeface="Times New Roman" panose="02020603050405020304" pitchFamily="18" charset="0"/>
              </a:rPr>
              <a:t>утверждаемым работодателем</a:t>
            </a:r>
            <a:r>
              <a:rPr lang="ru-RU" altLang="ru-RU" sz="1600">
                <a:solidFill>
                  <a:srgbClr val="FF0000"/>
                </a:solidFill>
                <a:cs typeface="Times New Roman" panose="02020603050405020304" pitchFamily="18" charset="0"/>
              </a:rPr>
              <a:t>.</a:t>
            </a:r>
            <a:r>
              <a:rPr lang="ru-RU" altLang="ru-RU" sz="1600">
                <a:solidFill>
                  <a:srgbClr val="FF0000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Grp="1" noChangeArrowheads="1"/>
          </p:cNvSpPr>
          <p:nvPr>
            <p:ph idx="1"/>
          </p:nvPr>
        </p:nvSpPr>
        <p:spPr>
          <a:xfrm>
            <a:off x="762000" y="457200"/>
            <a:ext cx="7772400" cy="5716588"/>
          </a:xfrm>
          <a:gradFill rotWithShape="0">
            <a:gsLst>
              <a:gs pos="0">
                <a:srgbClr val="FFFFCC"/>
              </a:gs>
              <a:gs pos="50000">
                <a:srgbClr val="FFFFFF"/>
              </a:gs>
              <a:gs pos="100000">
                <a:srgbClr val="FFFFCC"/>
              </a:gs>
            </a:gsLst>
            <a:lin ang="0" scaled="1"/>
          </a:gradFill>
          <a:ln>
            <a:solidFill>
              <a:srgbClr val="FF0000"/>
            </a:solidFill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algn="ctr" eaLnBrk="1" hangingPunct="1">
              <a:spcBef>
                <a:spcPct val="50000"/>
              </a:spcBef>
              <a:buFontTx/>
              <a:buNone/>
              <a:defRPr/>
            </a:pPr>
            <a:r>
              <a:rPr lang="ru-RU" sz="1700" b="1" u="sng" dirty="0">
                <a:latin typeface="Times New Roman" pitchFamily="18" charset="0"/>
                <a:cs typeface="Times New Roman" pitchFamily="18" charset="0"/>
              </a:rPr>
              <a:t>Обучение в обучающих организациях федеральных органов исполнительной власти, органов исполнительной власти субъектов Российской Федерации в области охраны труда проходят</a:t>
            </a:r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algn="ctr" eaLnBrk="1" hangingPunct="1">
              <a:spcBef>
                <a:spcPct val="50000"/>
              </a:spcBef>
              <a:buFontTx/>
              <a:buNone/>
              <a:defRPr/>
            </a:pPr>
            <a:endParaRPr lang="ru-RU" sz="1700" b="1" dirty="0">
              <a:cs typeface="Arial" charset="0"/>
            </a:endParaRPr>
          </a:p>
          <a:p>
            <a:pPr algn="just" eaLnBrk="1" hangingPunct="1">
              <a:spcBef>
                <a:spcPct val="50000"/>
              </a:spcBef>
              <a:defRPr/>
            </a:pPr>
            <a:r>
              <a:rPr lang="ru-RU" sz="1700" b="1" dirty="0">
                <a:latin typeface="Times New Roman" pitchFamily="18" charset="0"/>
              </a:rPr>
              <a:t>  </a:t>
            </a:r>
            <a:r>
              <a:rPr lang="ru-RU" sz="1700" b="1" dirty="0">
                <a:latin typeface="Times New Roman" pitchFamily="18" charset="0"/>
                <a:cs typeface="Times New Roman" pitchFamily="18" charset="0"/>
              </a:rPr>
              <a:t>руководители организаций, заместители руководителей организаций, курирующие вопросы охраны труда, заместители главных инженеров по охране труда, работодатели - физические лица, иные лица, занимающиеся предпринимательской деятельностью; </a:t>
            </a:r>
            <a:endParaRPr lang="ru-RU" sz="1700" b="1" dirty="0">
              <a:latin typeface="Times New Roman" pitchFamily="18" charset="0"/>
            </a:endParaRPr>
          </a:p>
          <a:p>
            <a:pPr algn="just" eaLnBrk="1" hangingPunct="1">
              <a:spcBef>
                <a:spcPct val="50000"/>
              </a:spcBef>
              <a:defRPr/>
            </a:pPr>
            <a:r>
              <a:rPr lang="ru-RU" sz="1700" b="1" dirty="0">
                <a:latin typeface="Times New Roman" pitchFamily="18" charset="0"/>
              </a:rPr>
              <a:t>  </a:t>
            </a:r>
            <a:r>
              <a:rPr lang="ru-RU" sz="1700" b="1" dirty="0">
                <a:latin typeface="Times New Roman" pitchFamily="18" charset="0"/>
                <a:cs typeface="Times New Roman" pitchFamily="18" charset="0"/>
              </a:rPr>
              <a:t>руководители, специалисты, инженерно-технические работники, осуществляющие организацию, руководство и проведение работ на рабочих местах и в производственных подразделениях, а также контроль и технический надзор за проведением работ; </a:t>
            </a:r>
            <a:endParaRPr lang="ru-RU" sz="1700" b="1" dirty="0">
              <a:latin typeface="Times New Roman" pitchFamily="18" charset="0"/>
            </a:endParaRPr>
          </a:p>
          <a:p>
            <a:pPr algn="just" eaLnBrk="1" hangingPunct="1">
              <a:spcBef>
                <a:spcPct val="50000"/>
              </a:spcBef>
              <a:defRPr/>
            </a:pPr>
            <a:r>
              <a:rPr lang="ru-RU" sz="1700" b="1" dirty="0">
                <a:latin typeface="Times New Roman" pitchFamily="18" charset="0"/>
              </a:rPr>
              <a:t>  </a:t>
            </a:r>
            <a:r>
              <a:rPr lang="ru-RU" sz="1700" b="1" dirty="0">
                <a:latin typeface="Times New Roman" pitchFamily="18" charset="0"/>
                <a:cs typeface="Times New Roman" pitchFamily="18" charset="0"/>
              </a:rPr>
              <a:t>специалисты служб охраны труда, работники, на которых работодателем возложены обязанности организации работы по охране труда, члены комитетов (комиссий) по охране труда, уполномоченные (доверенные) лица по охране труда профессиональных союзов и иных уполномоченных работниками представительных органов</a:t>
            </a:r>
            <a:r>
              <a:rPr lang="ru-RU" sz="1700" b="1" dirty="0">
                <a:latin typeface="Times New Roman" pitchFamily="18" charset="0"/>
              </a:rPr>
              <a:t>;</a:t>
            </a:r>
          </a:p>
          <a:p>
            <a:pPr algn="just" eaLnBrk="1" hangingPunct="1">
              <a:spcBef>
                <a:spcPct val="50000"/>
              </a:spcBef>
              <a:defRPr/>
            </a:pPr>
            <a:r>
              <a:rPr lang="ru-RU" sz="1700" b="1" dirty="0">
                <a:latin typeface="Times New Roman" pitchFamily="18" charset="0"/>
              </a:rPr>
              <a:t>  </a:t>
            </a:r>
            <a:r>
              <a:rPr lang="ru-RU" sz="1700" b="1" dirty="0">
                <a:latin typeface="Times New Roman" pitchFamily="18" charset="0"/>
                <a:cs typeface="Times New Roman" pitchFamily="18" charset="0"/>
              </a:rPr>
              <a:t>члены комиссий по проверке знаний требований охраны труда организаций</a:t>
            </a:r>
            <a:r>
              <a:rPr lang="ru-RU" sz="1700" b="1" dirty="0">
                <a:latin typeface="Times New Roman" pitchFamily="18" charset="0"/>
              </a:rPr>
              <a:t>.</a:t>
            </a: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Line 2"/>
          <p:cNvSpPr>
            <a:spLocks noChangeShapeType="1"/>
          </p:cNvSpPr>
          <p:nvPr/>
        </p:nvSpPr>
        <p:spPr bwMode="auto">
          <a:xfrm>
            <a:off x="5867400" y="457200"/>
            <a:ext cx="4572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6147" name="Line 3"/>
          <p:cNvSpPr>
            <a:spLocks noChangeShapeType="1"/>
          </p:cNvSpPr>
          <p:nvPr/>
        </p:nvSpPr>
        <p:spPr bwMode="auto">
          <a:xfrm>
            <a:off x="6705600" y="457200"/>
            <a:ext cx="914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 flipH="1">
            <a:off x="1600200" y="457200"/>
            <a:ext cx="1219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457200" y="762000"/>
            <a:ext cx="2514600" cy="3460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вводный инструктаж</a:t>
            </a:r>
            <a:r>
              <a:rPr lang="ru-RU" altLang="ru-RU" sz="16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6248400" y="685800"/>
            <a:ext cx="2514600" cy="59055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на рабочем месте </a:t>
            </a:r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304800" y="1447800"/>
            <a:ext cx="2514600" cy="3460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повторный инструктаж </a:t>
            </a:r>
          </a:p>
        </p:txBody>
      </p:sp>
      <p:sp>
        <p:nvSpPr>
          <p:cNvPr id="6152" name="Text Box 8"/>
          <p:cNvSpPr txBox="1">
            <a:spLocks noChangeArrowheads="1"/>
          </p:cNvSpPr>
          <p:nvPr/>
        </p:nvSpPr>
        <p:spPr bwMode="auto">
          <a:xfrm>
            <a:off x="6324600" y="1447800"/>
            <a:ext cx="2514600" cy="3460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курсовое обучение </a:t>
            </a:r>
          </a:p>
        </p:txBody>
      </p:sp>
      <p:sp>
        <p:nvSpPr>
          <p:cNvPr id="6153" name="Text Box 9"/>
          <p:cNvSpPr txBox="1">
            <a:spLocks noChangeArrowheads="1"/>
          </p:cNvSpPr>
          <p:nvPr/>
        </p:nvSpPr>
        <p:spPr bwMode="auto">
          <a:xfrm>
            <a:off x="3276600" y="1447800"/>
            <a:ext cx="2667000" cy="3460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внеплановый инструктаж </a:t>
            </a:r>
          </a:p>
        </p:txBody>
      </p:sp>
      <p:sp>
        <p:nvSpPr>
          <p:cNvPr id="6154" name="Line 10"/>
          <p:cNvSpPr>
            <a:spLocks noChangeShapeType="1"/>
          </p:cNvSpPr>
          <p:nvPr/>
        </p:nvSpPr>
        <p:spPr bwMode="auto">
          <a:xfrm>
            <a:off x="4648200" y="4572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6155" name="Line 11"/>
          <p:cNvSpPr>
            <a:spLocks noChangeShapeType="1"/>
          </p:cNvSpPr>
          <p:nvPr/>
        </p:nvSpPr>
        <p:spPr bwMode="auto">
          <a:xfrm flipH="1">
            <a:off x="2819400" y="457200"/>
            <a:ext cx="5334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6156" name="Text Box 12"/>
          <p:cNvSpPr txBox="1">
            <a:spLocks noChangeArrowheads="1"/>
          </p:cNvSpPr>
          <p:nvPr/>
        </p:nvSpPr>
        <p:spPr bwMode="auto">
          <a:xfrm>
            <a:off x="3352800" y="685800"/>
            <a:ext cx="2514600" cy="59055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первичный инструктаж на рабочем месте </a:t>
            </a:r>
          </a:p>
        </p:txBody>
      </p:sp>
      <p:sp>
        <p:nvSpPr>
          <p:cNvPr id="6157" name="Text Box 13"/>
          <p:cNvSpPr txBox="1">
            <a:spLocks noChangeArrowheads="1"/>
          </p:cNvSpPr>
          <p:nvPr/>
        </p:nvSpPr>
        <p:spPr bwMode="auto">
          <a:xfrm>
            <a:off x="914400" y="152400"/>
            <a:ext cx="7620000" cy="346075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</a:t>
            </a:r>
            <a:r>
              <a:rPr lang="ru-RU" altLang="ru-RU" sz="1600" b="1">
                <a:latin typeface="Times New Roman" panose="02020603050405020304" pitchFamily="18" charset="0"/>
              </a:rPr>
              <a:t> </a:t>
            </a:r>
            <a:r>
              <a:rPr lang="ru-RU" altLang="ru-RU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подготовки</a:t>
            </a:r>
            <a:r>
              <a:rPr lang="ru-RU" altLang="ru-RU" sz="1600" b="1">
                <a:latin typeface="Times New Roman" panose="02020603050405020304" pitchFamily="18" charset="0"/>
              </a:rPr>
              <a:t> </a:t>
            </a:r>
            <a:r>
              <a:rPr lang="ru-RU" altLang="ru-RU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b="1">
                <a:latin typeface="Times New Roman" panose="02020603050405020304" pitchFamily="18" charset="0"/>
              </a:rPr>
              <a:t>р</a:t>
            </a:r>
            <a:r>
              <a:rPr lang="ru-RU" altLang="ru-RU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абочих </a:t>
            </a:r>
            <a:r>
              <a:rPr lang="ru-RU" altLang="ru-RU" sz="1600" b="1">
                <a:latin typeface="Times New Roman" panose="02020603050405020304" pitchFamily="18" charset="0"/>
              </a:rPr>
              <a:t> </a:t>
            </a:r>
            <a:r>
              <a:rPr lang="ru-RU" altLang="ru-RU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по </a:t>
            </a:r>
            <a:r>
              <a:rPr lang="ru-RU" altLang="ru-RU" sz="1600" b="1">
                <a:latin typeface="Times New Roman" panose="02020603050405020304" pitchFamily="18" charset="0"/>
              </a:rPr>
              <a:t> </a:t>
            </a:r>
            <a:r>
              <a:rPr lang="ru-RU" altLang="ru-RU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охране</a:t>
            </a:r>
            <a:r>
              <a:rPr lang="ru-RU" altLang="ru-RU" sz="1600" b="1">
                <a:latin typeface="Times New Roman" panose="02020603050405020304" pitchFamily="18" charset="0"/>
              </a:rPr>
              <a:t> </a:t>
            </a:r>
            <a:r>
              <a:rPr lang="ru-RU" altLang="ru-RU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т</a:t>
            </a:r>
            <a:r>
              <a:rPr lang="ru-RU" altLang="ru-RU" sz="1600" b="1">
                <a:latin typeface="Times New Roman" panose="02020603050405020304" pitchFamily="18" charset="0"/>
              </a:rPr>
              <a:t>р</a:t>
            </a:r>
            <a:r>
              <a:rPr lang="ru-RU" altLang="ru-RU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уда</a:t>
            </a: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158" name="Text Box 14"/>
          <p:cNvSpPr txBox="1">
            <a:spLocks noChangeArrowheads="1"/>
          </p:cNvSpPr>
          <p:nvPr/>
        </p:nvSpPr>
        <p:spPr bwMode="auto">
          <a:xfrm>
            <a:off x="420688" y="3789363"/>
            <a:ext cx="6248400" cy="2316162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50000">
                <a:srgbClr val="FFFFFF"/>
              </a:gs>
              <a:gs pos="100000">
                <a:srgbClr val="CCFFFF"/>
              </a:gs>
            </a:gsLst>
            <a:lin ang="5400000" scaled="1"/>
          </a:gradFill>
          <a:ln w="9525">
            <a:solidFill>
              <a:srgbClr val="66CC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ru-RU" altLang="ru-RU" sz="1600">
                <a:latin typeface="Times New Roman" panose="02020603050405020304" pitchFamily="18" charset="0"/>
              </a:rPr>
              <a:t>   </a:t>
            </a:r>
            <a:r>
              <a:rPr lang="ru-RU" alt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По профессиям, для которых утверждены типовые инструкции, инструктаж и обучение ведутся по этим инструкциям с учетом местных условий каждого предприятия. </a:t>
            </a:r>
            <a:endParaRPr lang="ru-RU" altLang="ru-RU" sz="170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ru-RU" altLang="ru-RU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Пересмотр программ и инструкций по охране труда</a:t>
            </a:r>
            <a:r>
              <a:rPr lang="ru-RU" alt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и инструкций безопасности проводится после выхода новых правил охраны труда и правил безопасности, изменения технологии производства и оборудования, но </a:t>
            </a:r>
            <a:r>
              <a:rPr lang="ru-RU" altLang="ru-RU" sz="1700" b="1" u="sng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реже одного раза в пять лет</a:t>
            </a:r>
            <a:r>
              <a:rPr lang="ru-RU" altLang="ru-RU" sz="170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170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159" name="Picture 17" descr="bd06630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4221163"/>
            <a:ext cx="2209800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60" name="Text Box 19"/>
          <p:cNvSpPr txBox="1">
            <a:spLocks noChangeArrowheads="1"/>
          </p:cNvSpPr>
          <p:nvPr/>
        </p:nvSpPr>
        <p:spPr bwMode="auto">
          <a:xfrm>
            <a:off x="304800" y="1911350"/>
            <a:ext cx="8534400" cy="1400175"/>
          </a:xfrm>
          <a:prstGeom prst="rect">
            <a:avLst/>
          </a:prstGeom>
          <a:gradFill rotWithShape="0">
            <a:gsLst>
              <a:gs pos="0">
                <a:srgbClr val="FFCC99"/>
              </a:gs>
              <a:gs pos="50000">
                <a:srgbClr val="FFFFFF"/>
              </a:gs>
              <a:gs pos="100000">
                <a:srgbClr val="FFCC99"/>
              </a:gs>
            </a:gsLst>
            <a:lin ang="5400000" scaled="1"/>
          </a:gradFill>
          <a:ln w="9525">
            <a:solidFill>
              <a:srgbClr val="FF99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ru-RU" altLang="ru-RU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Перечень работ и профессий</a:t>
            </a:r>
            <a:r>
              <a:rPr lang="ru-RU" alt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, по которым проводят обучение, а также </a:t>
            </a:r>
            <a:r>
              <a:rPr lang="ru-RU" altLang="ru-RU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порядок, форму, периодичность и продолжительность обучения</a:t>
            </a:r>
            <a:r>
              <a:rPr lang="ru-RU" alt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устанавливают</a:t>
            </a:r>
            <a:r>
              <a:rPr lang="ru-RU" alt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с учетом отраслевой нормативно-технической документации </a:t>
            </a:r>
            <a:r>
              <a:rPr lang="ru-RU" altLang="ru-RU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руководители предприятий</a:t>
            </a:r>
            <a:r>
              <a:rPr lang="ru-RU" alt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по согласованию с профсоюзным комитетом, исходя из характера профессии, вида работ, специфики производства и условий труда.</a:t>
            </a:r>
            <a:endParaRPr lang="ru-RU" altLang="ru-RU" sz="1700">
              <a:latin typeface="Times New Roman" panose="02020603050405020304" pitchFamily="18" charset="0"/>
            </a:endParaRPr>
          </a:p>
        </p:txBody>
      </p:sp>
      <p:sp>
        <p:nvSpPr>
          <p:cNvPr id="6161" name="Text Box 21"/>
          <p:cNvSpPr txBox="1">
            <a:spLocks noChangeArrowheads="1"/>
          </p:cNvSpPr>
          <p:nvPr/>
        </p:nvSpPr>
        <p:spPr bwMode="auto">
          <a:xfrm>
            <a:off x="7315200" y="2514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ru-RU" altLang="ru-RU" sz="1400">
                <a:latin typeface="Times New Roman" panose="02020603050405020304" pitchFamily="18" charset="0"/>
                <a:cs typeface="Times New Roman" panose="02020603050405020304" pitchFamily="18" charset="0"/>
              </a:rPr>
              <a:t>ГОСТ 12.0.004-90</a:t>
            </a:r>
            <a:r>
              <a:rPr lang="ru-RU" altLang="ru-RU" sz="140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5"/>
          <p:cNvSpPr txBox="1">
            <a:spLocks noChangeArrowheads="1"/>
          </p:cNvSpPr>
          <p:nvPr/>
        </p:nvSpPr>
        <p:spPr bwMode="auto">
          <a:xfrm>
            <a:off x="468313" y="333375"/>
            <a:ext cx="8207375" cy="1138238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50000">
                <a:srgbClr val="FFFFFF"/>
              </a:gs>
              <a:gs pos="100000">
                <a:srgbClr val="CCFFFF"/>
              </a:gs>
            </a:gsLst>
            <a:lin ang="5400000" scaled="1"/>
          </a:gradFill>
          <a:ln w="9525">
            <a:solidFill>
              <a:srgbClr val="66CC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ru-RU" altLang="ru-RU" sz="1700" b="1">
                <a:latin typeface="Times New Roman" panose="02020603050405020304" pitchFamily="18" charset="0"/>
              </a:rPr>
              <a:t>   </a:t>
            </a:r>
            <a:r>
              <a:rPr lang="ru-RU" altLang="ru-RU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Работодатель (или уполномоченное им лицо) обязан организовать </a:t>
            </a:r>
            <a:r>
              <a:rPr lang="ru-RU" altLang="ru-RU" sz="1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течение месяца</a:t>
            </a:r>
            <a:r>
              <a:rPr lang="ru-RU" altLang="ru-RU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 после приема на работу обучение безопасным методам и приемам выполнения работ всех поступающих на работу лиц, а также лиц, переводимых на другую работу.</a:t>
            </a:r>
            <a:r>
              <a:rPr lang="ru-RU" altLang="ru-RU" sz="17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171" name="Text Box 22"/>
          <p:cNvSpPr txBox="1">
            <a:spLocks noChangeArrowheads="1"/>
          </p:cNvSpPr>
          <p:nvPr/>
        </p:nvSpPr>
        <p:spPr bwMode="auto">
          <a:xfrm>
            <a:off x="484188" y="1844675"/>
            <a:ext cx="8208962" cy="877888"/>
          </a:xfrm>
          <a:prstGeom prst="rect">
            <a:avLst/>
          </a:prstGeom>
          <a:solidFill>
            <a:srgbClr val="FFFFCC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indent="187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ru-RU" altLang="ru-RU" sz="1700" b="1">
                <a:solidFill>
                  <a:srgbClr val="FF0000"/>
                </a:solidFill>
                <a:cs typeface="Times New Roman" panose="02020603050405020304" pitchFamily="18" charset="0"/>
              </a:rPr>
              <a:t>Работодатель (или уполномоченное им лицо) организует проведение периодического, </a:t>
            </a:r>
            <a:r>
              <a:rPr lang="ru-RU" altLang="ru-RU" sz="1700" b="1" u="sng">
                <a:solidFill>
                  <a:srgbClr val="FF0000"/>
                </a:solidFill>
                <a:cs typeface="Times New Roman" panose="02020603050405020304" pitchFamily="18" charset="0"/>
              </a:rPr>
              <a:t>не реже одного раза в год</a:t>
            </a:r>
            <a:r>
              <a:rPr lang="ru-RU" altLang="ru-RU" sz="1700" b="1">
                <a:solidFill>
                  <a:srgbClr val="FF0000"/>
                </a:solidFill>
                <a:cs typeface="Times New Roman" panose="02020603050405020304" pitchFamily="18" charset="0"/>
              </a:rPr>
              <a:t>, обучения работников рабочих профессий </a:t>
            </a:r>
            <a:r>
              <a:rPr lang="ru-RU" altLang="ru-RU" sz="1700" b="1" u="sng">
                <a:solidFill>
                  <a:srgbClr val="FF0000"/>
                </a:solidFill>
                <a:cs typeface="Times New Roman" panose="02020603050405020304" pitchFamily="18" charset="0"/>
              </a:rPr>
              <a:t>оказанию первой помощи пострадавшим</a:t>
            </a:r>
            <a:r>
              <a:rPr lang="ru-RU" altLang="ru-RU" sz="1200" b="1">
                <a:solidFill>
                  <a:srgbClr val="FF0000"/>
                </a:solidFill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7172" name="Text Box 20"/>
          <p:cNvSpPr txBox="1">
            <a:spLocks noChangeArrowheads="1"/>
          </p:cNvSpPr>
          <p:nvPr/>
        </p:nvSpPr>
        <p:spPr bwMode="auto">
          <a:xfrm>
            <a:off x="468313" y="3141663"/>
            <a:ext cx="8224837" cy="1400175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50000">
                <a:srgbClr val="FFFFFF"/>
              </a:gs>
              <a:gs pos="100000">
                <a:srgbClr val="CCFFFF"/>
              </a:gs>
            </a:gsLst>
            <a:lin ang="5400000" scaled="1"/>
          </a:gradFill>
          <a:ln w="9525">
            <a:solidFill>
              <a:srgbClr val="FF99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ru-RU" altLang="ru-RU" sz="1700">
                <a:latin typeface="Times New Roman" panose="02020603050405020304" pitchFamily="18" charset="0"/>
              </a:rPr>
              <a:t>    </a:t>
            </a:r>
            <a:r>
              <a:rPr lang="ru-RU" altLang="ru-RU" sz="17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Проверку</a:t>
            </a:r>
            <a:r>
              <a:rPr lang="ru-RU" alt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теоретических знаний требований охраны труда и практических навыков безопасной работы работников рабочих профессий </a:t>
            </a:r>
            <a:r>
              <a:rPr lang="ru-RU" altLang="ru-RU" sz="17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проводят непосредственные руководители</a:t>
            </a:r>
            <a:r>
              <a:rPr lang="ru-RU" alt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работ в объеме знаний требований правил и инструкций по охране труда, а при необходимости - в объеме знаний дополнительных специальных требований безопасности и охраны труда. </a:t>
            </a:r>
          </a:p>
        </p:txBody>
      </p:sp>
      <p:sp>
        <p:nvSpPr>
          <p:cNvPr id="7173" name="Text Box 16"/>
          <p:cNvSpPr txBox="1">
            <a:spLocks noChangeArrowheads="1"/>
          </p:cNvSpPr>
          <p:nvPr/>
        </p:nvSpPr>
        <p:spPr bwMode="auto">
          <a:xfrm>
            <a:off x="468313" y="5157788"/>
            <a:ext cx="8224837" cy="876300"/>
          </a:xfrm>
          <a:prstGeom prst="rect">
            <a:avLst/>
          </a:prstGeom>
          <a:gradFill rotWithShape="0">
            <a:gsLst>
              <a:gs pos="0">
                <a:srgbClr val="FFCC99"/>
              </a:gs>
              <a:gs pos="50000">
                <a:srgbClr val="FFFFFF"/>
              </a:gs>
              <a:gs pos="100000">
                <a:srgbClr val="FFCC99"/>
              </a:gs>
            </a:gsLst>
            <a:lin ang="5400000" scaled="1"/>
          </a:gradFill>
          <a:ln w="9525">
            <a:solidFill>
              <a:srgbClr val="FF9933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ru-RU" altLang="ru-RU" sz="1400" b="1">
                <a:latin typeface="Times New Roman" panose="02020603050405020304" pitchFamily="18" charset="0"/>
              </a:rPr>
              <a:t>    </a:t>
            </a:r>
            <a:r>
              <a:rPr lang="ru-RU" altLang="ru-RU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за своевременным и качественным инструктированием и обучением рабочих по охране труда осуществляет служба охраны труда предприятия (организации).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AutoShape 2"/>
          <p:cNvSpPr>
            <a:spLocks noChangeArrowheads="1"/>
          </p:cNvSpPr>
          <p:nvPr/>
        </p:nvSpPr>
        <p:spPr bwMode="auto">
          <a:xfrm>
            <a:off x="7010400" y="6019800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195" name="AutoShape 3"/>
          <p:cNvSpPr>
            <a:spLocks noChangeArrowheads="1"/>
          </p:cNvSpPr>
          <p:nvPr/>
        </p:nvSpPr>
        <p:spPr bwMode="auto">
          <a:xfrm>
            <a:off x="7315200" y="4876800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196" name="AutoShape 4"/>
          <p:cNvSpPr>
            <a:spLocks noChangeArrowheads="1"/>
          </p:cNvSpPr>
          <p:nvPr/>
        </p:nvSpPr>
        <p:spPr bwMode="auto">
          <a:xfrm>
            <a:off x="7315200" y="3505200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197" name="AutoShape 5"/>
          <p:cNvSpPr>
            <a:spLocks noChangeArrowheads="1"/>
          </p:cNvSpPr>
          <p:nvPr/>
        </p:nvSpPr>
        <p:spPr bwMode="auto">
          <a:xfrm>
            <a:off x="7315200" y="2133600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198" name="AutoShape 6"/>
          <p:cNvSpPr>
            <a:spLocks noChangeArrowheads="1"/>
          </p:cNvSpPr>
          <p:nvPr/>
        </p:nvSpPr>
        <p:spPr bwMode="auto">
          <a:xfrm>
            <a:off x="4724400" y="2133600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8382000" y="762000"/>
            <a:ext cx="609600" cy="58674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CCCC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152400" y="762000"/>
            <a:ext cx="609600" cy="5867400"/>
          </a:xfrm>
          <a:prstGeom prst="rect">
            <a:avLst/>
          </a:prstGeom>
          <a:gradFill rotWithShape="0">
            <a:gsLst>
              <a:gs pos="0">
                <a:srgbClr val="FFCCC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1" name="AutoShape 9"/>
          <p:cNvSpPr>
            <a:spLocks noChangeArrowheads="1"/>
          </p:cNvSpPr>
          <p:nvPr/>
        </p:nvSpPr>
        <p:spPr bwMode="auto">
          <a:xfrm>
            <a:off x="1295400" y="6019800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2" name="AutoShape 10"/>
          <p:cNvSpPr>
            <a:spLocks noChangeArrowheads="1"/>
          </p:cNvSpPr>
          <p:nvPr/>
        </p:nvSpPr>
        <p:spPr bwMode="auto">
          <a:xfrm>
            <a:off x="1676400" y="4876800"/>
            <a:ext cx="1143000" cy="152400"/>
          </a:xfrm>
          <a:prstGeom prst="rightArrow">
            <a:avLst>
              <a:gd name="adj1" fmla="val 50000"/>
              <a:gd name="adj2" fmla="val 187500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3" name="AutoShape 11"/>
          <p:cNvSpPr>
            <a:spLocks noChangeArrowheads="1"/>
          </p:cNvSpPr>
          <p:nvPr/>
        </p:nvSpPr>
        <p:spPr bwMode="auto">
          <a:xfrm>
            <a:off x="1600200" y="3505200"/>
            <a:ext cx="1219200" cy="152400"/>
          </a:xfrm>
          <a:prstGeom prst="rightArrow">
            <a:avLst>
              <a:gd name="adj1" fmla="val 50000"/>
              <a:gd name="adj2" fmla="val 200000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4" name="AutoShape 12"/>
          <p:cNvSpPr>
            <a:spLocks noChangeArrowheads="1"/>
          </p:cNvSpPr>
          <p:nvPr/>
        </p:nvSpPr>
        <p:spPr bwMode="auto">
          <a:xfrm>
            <a:off x="1295400" y="2133600"/>
            <a:ext cx="1524000" cy="152400"/>
          </a:xfrm>
          <a:prstGeom prst="rightArrow">
            <a:avLst>
              <a:gd name="adj1" fmla="val 50000"/>
              <a:gd name="adj2" fmla="val 250000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5" name="AutoShape 13"/>
          <p:cNvSpPr>
            <a:spLocks noChangeArrowheads="1"/>
          </p:cNvSpPr>
          <p:nvPr/>
        </p:nvSpPr>
        <p:spPr bwMode="auto">
          <a:xfrm>
            <a:off x="5105400" y="990600"/>
            <a:ext cx="381000" cy="152400"/>
          </a:xfrm>
          <a:prstGeom prst="rightArrow">
            <a:avLst>
              <a:gd name="adj1" fmla="val 50000"/>
              <a:gd name="adj2" fmla="val 62500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6" name="AutoShape 14"/>
          <p:cNvSpPr>
            <a:spLocks noChangeArrowheads="1"/>
          </p:cNvSpPr>
          <p:nvPr/>
        </p:nvSpPr>
        <p:spPr bwMode="auto">
          <a:xfrm>
            <a:off x="1295400" y="990600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7" name="Text Box 15"/>
          <p:cNvSpPr txBox="1">
            <a:spLocks noChangeArrowheads="1"/>
          </p:cNvSpPr>
          <p:nvPr/>
        </p:nvSpPr>
        <p:spPr bwMode="auto">
          <a:xfrm>
            <a:off x="1600200" y="228600"/>
            <a:ext cx="5791200" cy="396875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b="1">
                <a:cs typeface="Times New Roman" panose="02020603050405020304" pitchFamily="18" charset="0"/>
              </a:rPr>
              <a:t>ИНСТРУКТАЖ ПО БЕЗОПАСНОСТИ ТРУДА</a:t>
            </a:r>
            <a:r>
              <a:rPr lang="ru-RU" altLang="ru-RU" sz="2000"/>
              <a:t> </a:t>
            </a:r>
          </a:p>
        </p:txBody>
      </p:sp>
      <p:sp>
        <p:nvSpPr>
          <p:cNvPr id="8208" name="Text Box 16"/>
          <p:cNvSpPr txBox="1">
            <a:spLocks noChangeArrowheads="1"/>
          </p:cNvSpPr>
          <p:nvPr/>
        </p:nvSpPr>
        <p:spPr bwMode="auto">
          <a:xfrm>
            <a:off x="152400" y="914400"/>
            <a:ext cx="1143000" cy="346075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600" b="1">
                <a:cs typeface="Times New Roman" panose="02020603050405020304" pitchFamily="18" charset="0"/>
              </a:rPr>
              <a:t>Вводный</a:t>
            </a:r>
            <a:r>
              <a:rPr lang="ru-RU" altLang="ru-RU" sz="1600"/>
              <a:t> </a:t>
            </a:r>
          </a:p>
        </p:txBody>
      </p:sp>
      <p:sp>
        <p:nvSpPr>
          <p:cNvPr id="8209" name="Text Box 17"/>
          <p:cNvSpPr txBox="1">
            <a:spLocks noChangeArrowheads="1"/>
          </p:cNvSpPr>
          <p:nvPr/>
        </p:nvSpPr>
        <p:spPr bwMode="auto">
          <a:xfrm>
            <a:off x="152400" y="1752600"/>
            <a:ext cx="1295400" cy="835025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Первичный</a:t>
            </a:r>
            <a:r>
              <a:rPr lang="ru-RU" altLang="ru-RU" sz="1600">
                <a:latin typeface="Times New Roman" panose="02020603050405020304" pitchFamily="18" charset="0"/>
              </a:rPr>
              <a:t> </a:t>
            </a:r>
            <a:r>
              <a:rPr lang="ru-RU" altLang="ru-RU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на рабочем месте</a:t>
            </a:r>
            <a:endParaRPr lang="ru-RU" altLang="ru-RU" sz="1600">
              <a:latin typeface="Times New Roman" panose="02020603050405020304" pitchFamily="18" charset="0"/>
            </a:endParaRPr>
          </a:p>
        </p:txBody>
      </p:sp>
      <p:sp>
        <p:nvSpPr>
          <p:cNvPr id="8210" name="Text Box 18"/>
          <p:cNvSpPr txBox="1">
            <a:spLocks noChangeArrowheads="1"/>
          </p:cNvSpPr>
          <p:nvPr/>
        </p:nvSpPr>
        <p:spPr bwMode="auto">
          <a:xfrm>
            <a:off x="152400" y="3387725"/>
            <a:ext cx="1447800" cy="346075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600" b="1">
                <a:cs typeface="Times New Roman" panose="02020603050405020304" pitchFamily="18" charset="0"/>
              </a:rPr>
              <a:t>Повторный</a:t>
            </a:r>
            <a:r>
              <a:rPr lang="ru-RU" altLang="ru-RU" sz="1600"/>
              <a:t> </a:t>
            </a:r>
          </a:p>
        </p:txBody>
      </p:sp>
      <p:sp>
        <p:nvSpPr>
          <p:cNvPr id="8211" name="Text Box 19"/>
          <p:cNvSpPr txBox="1">
            <a:spLocks noChangeArrowheads="1"/>
          </p:cNvSpPr>
          <p:nvPr/>
        </p:nvSpPr>
        <p:spPr bwMode="auto">
          <a:xfrm>
            <a:off x="152400" y="4759325"/>
            <a:ext cx="1524000" cy="346075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600" b="1">
                <a:cs typeface="Times New Roman" panose="02020603050405020304" pitchFamily="18" charset="0"/>
              </a:rPr>
              <a:t>Внеплановый</a:t>
            </a:r>
            <a:r>
              <a:rPr lang="ru-RU" altLang="ru-RU" sz="1600"/>
              <a:t> </a:t>
            </a:r>
          </a:p>
        </p:txBody>
      </p:sp>
      <p:sp>
        <p:nvSpPr>
          <p:cNvPr id="8212" name="Text Box 20"/>
          <p:cNvSpPr txBox="1">
            <a:spLocks noChangeArrowheads="1"/>
          </p:cNvSpPr>
          <p:nvPr/>
        </p:nvSpPr>
        <p:spPr bwMode="auto">
          <a:xfrm>
            <a:off x="152400" y="5943600"/>
            <a:ext cx="1447800" cy="346075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600" b="1">
                <a:cs typeface="Times New Roman" panose="02020603050405020304" pitchFamily="18" charset="0"/>
              </a:rPr>
              <a:t>Целевой</a:t>
            </a:r>
            <a:r>
              <a:rPr lang="ru-RU" altLang="ru-RU" sz="1600"/>
              <a:t> </a:t>
            </a:r>
          </a:p>
        </p:txBody>
      </p:sp>
      <p:sp>
        <p:nvSpPr>
          <p:cNvPr id="8213" name="Text Box 21"/>
          <p:cNvSpPr txBox="1">
            <a:spLocks noChangeArrowheads="1"/>
          </p:cNvSpPr>
          <p:nvPr/>
        </p:nvSpPr>
        <p:spPr bwMode="auto">
          <a:xfrm>
            <a:off x="1905000" y="762000"/>
            <a:ext cx="3276600" cy="711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ru-RU" altLang="ru-RU" sz="1000">
                <a:latin typeface="Times New Roman" panose="02020603050405020304" pitchFamily="18" charset="0"/>
              </a:rPr>
              <a:t>П</a:t>
            </a:r>
            <a:r>
              <a:rPr lang="ru-RU" altLang="ru-RU" sz="1000">
                <a:cs typeface="Times New Roman" panose="02020603050405020304" pitchFamily="18" charset="0"/>
              </a:rPr>
              <a:t>роводят со всеми вновь принимаемыми на работу независимо от их образования, стажа работы по данной профессии или должности, с временными работниками, командированными, учащимися и студентами</a:t>
            </a:r>
            <a:r>
              <a:rPr lang="ru-RU" altLang="ru-RU" sz="1000"/>
              <a:t> </a:t>
            </a:r>
          </a:p>
        </p:txBody>
      </p:sp>
      <p:sp>
        <p:nvSpPr>
          <p:cNvPr id="8214" name="Text Box 22"/>
          <p:cNvSpPr txBox="1">
            <a:spLocks noChangeArrowheads="1"/>
          </p:cNvSpPr>
          <p:nvPr/>
        </p:nvSpPr>
        <p:spPr bwMode="auto">
          <a:xfrm>
            <a:off x="5486400" y="762000"/>
            <a:ext cx="3429000" cy="711200"/>
          </a:xfrm>
          <a:prstGeom prst="rect">
            <a:avLst/>
          </a:prstGeom>
          <a:gradFill rotWithShape="0">
            <a:gsLst>
              <a:gs pos="0">
                <a:srgbClr val="FFCCCC"/>
              </a:gs>
              <a:gs pos="50000">
                <a:srgbClr val="FFFFFF"/>
              </a:gs>
              <a:gs pos="100000">
                <a:srgbClr val="FFCCCC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ru-RU" altLang="ru-RU" sz="1000">
                <a:latin typeface="Times New Roman" panose="02020603050405020304" pitchFamily="18" charset="0"/>
              </a:rPr>
              <a:t>С</a:t>
            </a:r>
            <a:r>
              <a:rPr lang="ru-RU" altLang="ru-RU" sz="1000"/>
              <a:t> </a:t>
            </a:r>
            <a:r>
              <a:rPr lang="ru-RU" altLang="ru-RU" sz="1000">
                <a:cs typeface="Times New Roman" panose="02020603050405020304" pitchFamily="18" charset="0"/>
              </a:rPr>
              <a:t>запись</a:t>
            </a:r>
            <a:r>
              <a:rPr lang="ru-RU" altLang="ru-RU" sz="1000">
                <a:latin typeface="Times New Roman" panose="02020603050405020304" pitchFamily="18" charset="0"/>
              </a:rPr>
              <a:t>ю</a:t>
            </a:r>
            <a:r>
              <a:rPr lang="ru-RU" altLang="ru-RU" sz="1000">
                <a:cs typeface="Times New Roman" panose="02020603050405020304" pitchFamily="18" charset="0"/>
              </a:rPr>
              <a:t> в </a:t>
            </a:r>
            <a:r>
              <a:rPr lang="ru-RU" altLang="ru-RU" sz="1000" b="1">
                <a:cs typeface="Times New Roman" panose="02020603050405020304" pitchFamily="18" charset="0"/>
              </a:rPr>
              <a:t>журнале регистрации вводного инструктажа</a:t>
            </a:r>
            <a:r>
              <a:rPr lang="ru-RU" altLang="ru-RU" sz="1000">
                <a:cs typeface="Times New Roman" panose="02020603050405020304" pitchFamily="18" charset="0"/>
              </a:rPr>
              <a:t> с обязательной подписью инструктируемого и инструктирующего, а также в документе о приеме на работу</a:t>
            </a:r>
            <a:r>
              <a:rPr lang="ru-RU" altLang="ru-RU" sz="1000"/>
              <a:t>, </a:t>
            </a:r>
            <a:r>
              <a:rPr lang="ru-RU" altLang="ru-RU" sz="1000">
                <a:latin typeface="Times New Roman" panose="02020603050405020304" pitchFamily="18" charset="0"/>
              </a:rPr>
              <a:t>в </a:t>
            </a:r>
            <a:r>
              <a:rPr lang="ru-RU" altLang="ru-RU" sz="1000">
                <a:cs typeface="Times New Roman" panose="02020603050405020304" pitchFamily="18" charset="0"/>
              </a:rPr>
              <a:t>личн</a:t>
            </a:r>
            <a:r>
              <a:rPr lang="ru-RU" altLang="ru-RU" sz="1000">
                <a:latin typeface="Times New Roman" panose="02020603050405020304" pitchFamily="18" charset="0"/>
              </a:rPr>
              <a:t>ой</a:t>
            </a:r>
            <a:r>
              <a:rPr lang="ru-RU" altLang="ru-RU" sz="1000">
                <a:cs typeface="Times New Roman" panose="02020603050405020304" pitchFamily="18" charset="0"/>
              </a:rPr>
              <a:t> карточк</a:t>
            </a:r>
            <a:r>
              <a:rPr lang="ru-RU" altLang="ru-RU" sz="1000">
                <a:latin typeface="Times New Roman" panose="02020603050405020304" pitchFamily="18" charset="0"/>
              </a:rPr>
              <a:t>е</a:t>
            </a:r>
            <a:r>
              <a:rPr lang="ru-RU" altLang="ru-RU" sz="1000">
                <a:cs typeface="Times New Roman" panose="02020603050405020304" pitchFamily="18" charset="0"/>
              </a:rPr>
              <a:t> прохождения обучения</a:t>
            </a:r>
            <a:endParaRPr lang="ru-RU" altLang="ru-RU" sz="1000"/>
          </a:p>
        </p:txBody>
      </p:sp>
      <p:sp>
        <p:nvSpPr>
          <p:cNvPr id="8215" name="Text Box 23"/>
          <p:cNvSpPr txBox="1">
            <a:spLocks noChangeArrowheads="1"/>
          </p:cNvSpPr>
          <p:nvPr/>
        </p:nvSpPr>
        <p:spPr bwMode="auto">
          <a:xfrm>
            <a:off x="2819400" y="1676400"/>
            <a:ext cx="2362200" cy="10160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ru-RU" altLang="ru-RU" sz="1000">
                <a:cs typeface="Times New Roman" panose="02020603050405020304" pitchFamily="18" charset="0"/>
              </a:rPr>
              <a:t>Проводят до начала производственной деятельности со всеми вновь принятыми на предприятие, переводимыми из одного подразделения в другое, с выполняющими новую для них работу</a:t>
            </a:r>
            <a:r>
              <a:rPr lang="ru-RU" altLang="ru-RU" sz="1000"/>
              <a:t> </a:t>
            </a:r>
          </a:p>
        </p:txBody>
      </p:sp>
      <p:sp>
        <p:nvSpPr>
          <p:cNvPr id="8216" name="Text Box 24"/>
          <p:cNvSpPr txBox="1">
            <a:spLocks noChangeArrowheads="1"/>
          </p:cNvSpPr>
          <p:nvPr/>
        </p:nvSpPr>
        <p:spPr bwMode="auto">
          <a:xfrm>
            <a:off x="5334000" y="1676400"/>
            <a:ext cx="2286000" cy="10160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000">
                <a:cs typeface="Times New Roman" panose="02020603050405020304" pitchFamily="18" charset="0"/>
              </a:rPr>
              <a:t>Рабочие допускаются к самостоятельной работе после стажировки</a:t>
            </a:r>
            <a:r>
              <a:rPr lang="ru-RU" altLang="ru-RU" sz="1000"/>
              <a:t> (</a:t>
            </a:r>
            <a:r>
              <a:rPr lang="ru-RU" altLang="ru-RU" sz="1000">
                <a:cs typeface="Times New Roman" panose="02020603050405020304" pitchFamily="18" charset="0"/>
              </a:rPr>
              <a:t>в течение первых 2 - 14 смен </a:t>
            </a:r>
            <a:r>
              <a:rPr lang="ru-RU" altLang="ru-RU" sz="1000"/>
              <a:t>)</a:t>
            </a:r>
            <a:r>
              <a:rPr lang="ru-RU" altLang="ru-RU" sz="1000">
                <a:cs typeface="Times New Roman" panose="02020603050405020304" pitchFamily="18" charset="0"/>
              </a:rPr>
              <a:t>, проверки теоретических знаний и приобретенных навыков безопасных способов работы</a:t>
            </a:r>
            <a:r>
              <a:rPr lang="ru-RU" altLang="ru-RU" sz="1000"/>
              <a:t> </a:t>
            </a:r>
          </a:p>
        </p:txBody>
      </p:sp>
      <p:sp>
        <p:nvSpPr>
          <p:cNvPr id="8217" name="Text Box 25"/>
          <p:cNvSpPr txBox="1">
            <a:spLocks noChangeArrowheads="1"/>
          </p:cNvSpPr>
          <p:nvPr/>
        </p:nvSpPr>
        <p:spPr bwMode="auto">
          <a:xfrm>
            <a:off x="2819400" y="3200400"/>
            <a:ext cx="4800600" cy="711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ru-RU" altLang="ru-RU" sz="1000">
                <a:cs typeface="Times New Roman" panose="02020603050405020304" pitchFamily="18" charset="0"/>
              </a:rPr>
              <a:t>Проходят </a:t>
            </a:r>
            <a:r>
              <a:rPr lang="ru-RU" altLang="ru-RU" sz="1000" b="1">
                <a:cs typeface="Times New Roman" panose="02020603050405020304" pitchFamily="18" charset="0"/>
              </a:rPr>
              <a:t>не реже одного раза в полугодие</a:t>
            </a:r>
            <a:r>
              <a:rPr lang="ru-RU" altLang="ru-RU" sz="1000">
                <a:cs typeface="Times New Roman" panose="02020603050405020304" pitchFamily="18" charset="0"/>
              </a:rPr>
              <a:t>, для некоторых категорий работников может быть установлен более продолжительный (</a:t>
            </a:r>
            <a:r>
              <a:rPr lang="ru-RU" altLang="ru-RU" sz="1000" b="1">
                <a:cs typeface="Times New Roman" panose="02020603050405020304" pitchFamily="18" charset="0"/>
              </a:rPr>
              <a:t>до 1 года</a:t>
            </a:r>
            <a:r>
              <a:rPr lang="ru-RU" altLang="ru-RU" sz="1000">
                <a:cs typeface="Times New Roman" panose="02020603050405020304" pitchFamily="18" charset="0"/>
              </a:rPr>
              <a:t>) срок проведения повторного инструктажа(по согласованию с профкомитетами и соответствующими местными органами государственного надзора</a:t>
            </a:r>
            <a:endParaRPr lang="ru-RU" altLang="ru-RU" sz="1000"/>
          </a:p>
        </p:txBody>
      </p:sp>
      <p:sp>
        <p:nvSpPr>
          <p:cNvPr id="8218" name="Text Box 26"/>
          <p:cNvSpPr txBox="1">
            <a:spLocks noChangeArrowheads="1"/>
          </p:cNvSpPr>
          <p:nvPr/>
        </p:nvSpPr>
        <p:spPr bwMode="auto">
          <a:xfrm>
            <a:off x="2819400" y="4546600"/>
            <a:ext cx="4800600" cy="863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ru-RU" altLang="ru-RU" sz="1000">
                <a:cs typeface="Times New Roman" panose="02020603050405020304" pitchFamily="18" charset="0"/>
              </a:rPr>
              <a:t>Проводят при введении в действие стандартов, правил, инструкций по охране труда, при изменении технологического процесса, замене оборудования, влияющих на </a:t>
            </a:r>
            <a:r>
              <a:rPr lang="ru-RU" altLang="ru-RU" sz="1000"/>
              <a:t>БТ</a:t>
            </a:r>
            <a:r>
              <a:rPr lang="ru-RU" altLang="ru-RU" sz="1000">
                <a:cs typeface="Times New Roman" panose="02020603050405020304" pitchFamily="18" charset="0"/>
              </a:rPr>
              <a:t>, при нарушении требований </a:t>
            </a:r>
            <a:r>
              <a:rPr lang="ru-RU" altLang="ru-RU" sz="1000"/>
              <a:t>БТ</a:t>
            </a:r>
            <a:r>
              <a:rPr lang="ru-RU" altLang="ru-RU" sz="1000">
                <a:cs typeface="Times New Roman" panose="02020603050405020304" pitchFamily="18" charset="0"/>
              </a:rPr>
              <a:t>, по требованию органов надзора, при перерывах в работах, к которым предъявляют дополнительные требования </a:t>
            </a:r>
            <a:r>
              <a:rPr lang="ru-RU" altLang="ru-RU" sz="1000"/>
              <a:t>БТ</a:t>
            </a:r>
            <a:r>
              <a:rPr lang="ru-RU" altLang="ru-RU" sz="1000">
                <a:cs typeface="Times New Roman" panose="02020603050405020304" pitchFamily="18" charset="0"/>
              </a:rPr>
              <a:t> более чем на 30 календарных дней, а для остальных работ - 60 дней</a:t>
            </a:r>
            <a:r>
              <a:rPr lang="ru-RU" altLang="ru-RU" sz="1000"/>
              <a:t> </a:t>
            </a:r>
          </a:p>
        </p:txBody>
      </p:sp>
      <p:sp>
        <p:nvSpPr>
          <p:cNvPr id="8219" name="Text Box 27"/>
          <p:cNvSpPr txBox="1">
            <a:spLocks noChangeArrowheads="1"/>
          </p:cNvSpPr>
          <p:nvPr/>
        </p:nvSpPr>
        <p:spPr bwMode="auto">
          <a:xfrm rot="-5400000">
            <a:off x="6537325" y="3030538"/>
            <a:ext cx="3740150" cy="1016000"/>
          </a:xfrm>
          <a:prstGeom prst="rect">
            <a:avLst/>
          </a:prstGeom>
          <a:gradFill rotWithShape="0">
            <a:gsLst>
              <a:gs pos="0">
                <a:srgbClr val="FFCCCC"/>
              </a:gs>
              <a:gs pos="50000">
                <a:srgbClr val="FFFFFF"/>
              </a:gs>
              <a:gs pos="100000">
                <a:srgbClr val="FFCCCC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000">
                <a:cs typeface="Times New Roman" panose="02020603050405020304" pitchFamily="18" charset="0"/>
              </a:rPr>
              <a:t>Проверка знаний, а также приобретенных навыков безопасных способов работы, стажировка и допуск к работе делается запись в </a:t>
            </a:r>
            <a:r>
              <a:rPr lang="ru-RU" altLang="ru-RU" sz="1000" b="1">
                <a:cs typeface="Times New Roman" panose="02020603050405020304" pitchFamily="18" charset="0"/>
              </a:rPr>
              <a:t>журнале регистрации инструктажа на рабочем месте</a:t>
            </a:r>
            <a:r>
              <a:rPr lang="ru-RU" altLang="ru-RU" sz="1000">
                <a:cs typeface="Times New Roman" panose="02020603050405020304" pitchFamily="18" charset="0"/>
              </a:rPr>
              <a:t> и (или) в личной карточке с обязательной подписью инструктируемого и инструктирующего. При регистрации внепланового инструктажа указывают причину его проведения</a:t>
            </a:r>
            <a:r>
              <a:rPr lang="ru-RU" altLang="ru-RU" sz="1000"/>
              <a:t> </a:t>
            </a:r>
          </a:p>
        </p:txBody>
      </p:sp>
      <p:sp>
        <p:nvSpPr>
          <p:cNvPr id="8220" name="Text Box 28"/>
          <p:cNvSpPr txBox="1">
            <a:spLocks noChangeArrowheads="1"/>
          </p:cNvSpPr>
          <p:nvPr/>
        </p:nvSpPr>
        <p:spPr bwMode="auto">
          <a:xfrm>
            <a:off x="1905000" y="5638800"/>
            <a:ext cx="5486400" cy="863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ru-RU" altLang="ru-RU" sz="1000">
                <a:latin typeface="Times New Roman" panose="02020603050405020304" pitchFamily="18" charset="0"/>
              </a:rPr>
              <a:t>При:</a:t>
            </a:r>
          </a:p>
          <a:p>
            <a:pPr algn="l" eaLnBrk="1" hangingPunct="1">
              <a:buFontTx/>
              <a:buChar char="•"/>
            </a:pPr>
            <a:r>
              <a:rPr lang="ru-RU" altLang="ru-RU" sz="1000"/>
              <a:t> </a:t>
            </a:r>
            <a:r>
              <a:rPr lang="ru-RU" altLang="ru-RU" sz="1000">
                <a:cs typeface="Times New Roman" panose="02020603050405020304" pitchFamily="18" charset="0"/>
              </a:rPr>
              <a:t>выполнении разовых работ, не связанных с прямыми обязанностями по специальности;</a:t>
            </a:r>
            <a:endParaRPr lang="ru-RU" altLang="ru-RU" sz="1000"/>
          </a:p>
          <a:p>
            <a:pPr algn="l" eaLnBrk="1" hangingPunct="1">
              <a:buFontTx/>
              <a:buChar char="•"/>
            </a:pPr>
            <a:r>
              <a:rPr lang="ru-RU" altLang="ru-RU" sz="1000"/>
              <a:t> </a:t>
            </a:r>
            <a:r>
              <a:rPr lang="ru-RU" altLang="ru-RU" sz="1000">
                <a:cs typeface="Times New Roman" panose="02020603050405020304" pitchFamily="18" charset="0"/>
              </a:rPr>
              <a:t>ликвидации последствий аварий, стихийных бедствий и катастроф; </a:t>
            </a:r>
            <a:endParaRPr lang="ru-RU" altLang="ru-RU" sz="1000"/>
          </a:p>
          <a:p>
            <a:pPr algn="l" eaLnBrk="1" hangingPunct="1">
              <a:buFontTx/>
              <a:buChar char="•"/>
            </a:pPr>
            <a:r>
              <a:rPr lang="ru-RU" altLang="ru-RU" sz="1000"/>
              <a:t> </a:t>
            </a:r>
            <a:r>
              <a:rPr lang="ru-RU" altLang="ru-RU" sz="1000">
                <a:cs typeface="Times New Roman" panose="02020603050405020304" pitchFamily="18" charset="0"/>
              </a:rPr>
              <a:t>производстве работ, на которые оформляется наряд-допуск, разрешение и другие документы; </a:t>
            </a:r>
            <a:endParaRPr lang="ru-RU" altLang="ru-RU" sz="1000"/>
          </a:p>
          <a:p>
            <a:pPr algn="l" eaLnBrk="1" hangingPunct="1">
              <a:buFontTx/>
              <a:buChar char="•"/>
            </a:pPr>
            <a:r>
              <a:rPr lang="ru-RU" altLang="ru-RU" sz="1000"/>
              <a:t> </a:t>
            </a:r>
            <a:r>
              <a:rPr lang="ru-RU" altLang="ru-RU" sz="1000">
                <a:cs typeface="Times New Roman" panose="02020603050405020304" pitchFamily="18" charset="0"/>
              </a:rPr>
              <a:t>проведении экскурсии на предприятии, организации массовых мероприятий с учащимися </a:t>
            </a:r>
          </a:p>
        </p:txBody>
      </p:sp>
      <p:sp>
        <p:nvSpPr>
          <p:cNvPr id="8221" name="Text Box 29"/>
          <p:cNvSpPr txBox="1">
            <a:spLocks noChangeArrowheads="1"/>
          </p:cNvSpPr>
          <p:nvPr/>
        </p:nvSpPr>
        <p:spPr bwMode="auto">
          <a:xfrm>
            <a:off x="7620000" y="5638800"/>
            <a:ext cx="1295400" cy="1016000"/>
          </a:xfrm>
          <a:prstGeom prst="rect">
            <a:avLst/>
          </a:prstGeom>
          <a:gradFill rotWithShape="0">
            <a:gsLst>
              <a:gs pos="0">
                <a:srgbClr val="FFCCCC"/>
              </a:gs>
              <a:gs pos="50000">
                <a:srgbClr val="FFFFFF"/>
              </a:gs>
              <a:gs pos="100000">
                <a:srgbClr val="FFCCCC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000"/>
              <a:t>Ф</a:t>
            </a:r>
            <a:r>
              <a:rPr lang="ru-RU" altLang="ru-RU" sz="1000">
                <a:cs typeface="Times New Roman" panose="02020603050405020304" pitchFamily="18" charset="0"/>
              </a:rPr>
              <a:t>иксируется</a:t>
            </a:r>
            <a:r>
              <a:rPr lang="ru-RU" altLang="ru-RU" sz="1000"/>
              <a:t>  </a:t>
            </a:r>
            <a:r>
              <a:rPr lang="ru-RU" altLang="ru-RU" sz="1000">
                <a:cs typeface="Times New Roman" panose="02020603050405020304" pitchFamily="18" charset="0"/>
              </a:rPr>
              <a:t>в </a:t>
            </a:r>
            <a:r>
              <a:rPr lang="ru-RU" altLang="ru-RU" sz="1000" b="1">
                <a:cs typeface="Times New Roman" panose="02020603050405020304" pitchFamily="18" charset="0"/>
              </a:rPr>
              <a:t>наряде-допуске</a:t>
            </a:r>
            <a:r>
              <a:rPr lang="ru-RU" altLang="ru-RU" sz="1000">
                <a:cs typeface="Times New Roman" panose="02020603050405020304" pitchFamily="18" charset="0"/>
              </a:rPr>
              <a:t> или другой документации, разрешающей производство работ</a:t>
            </a:r>
            <a:r>
              <a:rPr lang="ru-RU" altLang="ru-RU" sz="1000"/>
              <a:t> </a:t>
            </a:r>
          </a:p>
        </p:txBody>
      </p:sp>
      <p:sp>
        <p:nvSpPr>
          <p:cNvPr id="8222" name="Text Box 30"/>
          <p:cNvSpPr txBox="1">
            <a:spLocks noChangeArrowheads="1"/>
          </p:cNvSpPr>
          <p:nvPr/>
        </p:nvSpPr>
        <p:spPr bwMode="auto">
          <a:xfrm rot="-5400000">
            <a:off x="391318" y="3183732"/>
            <a:ext cx="3738563" cy="711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000">
                <a:cs typeface="Times New Roman" panose="02020603050405020304" pitchFamily="18" charset="0"/>
              </a:rPr>
              <a:t>Лица, не связанные с обслуживанием, испытанием, наладкой и ремонтом оборудования, использованием инструмента, хранением и применением сырья и материалов, первичный инструктаж на рабочем месте не проходят</a:t>
            </a:r>
            <a:r>
              <a:rPr lang="ru-RU" altLang="ru-RU" sz="1000"/>
              <a:t> </a:t>
            </a:r>
          </a:p>
        </p:txBody>
      </p:sp>
      <p:sp>
        <p:nvSpPr>
          <p:cNvPr id="8223" name="Text Box 31"/>
          <p:cNvSpPr txBox="1">
            <a:spLocks noChangeArrowheads="1"/>
          </p:cNvSpPr>
          <p:nvPr/>
        </p:nvSpPr>
        <p:spPr bwMode="auto">
          <a:xfrm>
            <a:off x="7696200" y="228600"/>
            <a:ext cx="1143000" cy="457200"/>
          </a:xfrm>
          <a:prstGeom prst="rect">
            <a:avLst/>
          </a:prstGeom>
          <a:gradFill rotWithShape="0">
            <a:gsLst>
              <a:gs pos="0">
                <a:srgbClr val="FF9933"/>
              </a:gs>
              <a:gs pos="50000">
                <a:srgbClr val="FFFFFF"/>
              </a:gs>
              <a:gs pos="100000">
                <a:srgbClr val="FF9933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200">
                <a:cs typeface="Times New Roman" panose="02020603050405020304" pitchFamily="18" charset="0"/>
              </a:rPr>
              <a:t>ГОСТ 12.0.004-90</a:t>
            </a:r>
            <a:r>
              <a:rPr lang="ru-RU" altLang="ru-RU" sz="120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in00392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066800"/>
            <a:ext cx="1595438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990600" y="381000"/>
            <a:ext cx="7315200" cy="366713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Вводный инструктаж</a:t>
            </a:r>
            <a:r>
              <a:rPr lang="ru-RU" altLang="ru-RU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304800" y="838200"/>
            <a:ext cx="8534400" cy="739775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50000">
                <a:srgbClr val="FFFFFF"/>
              </a:gs>
              <a:gs pos="100000">
                <a:srgbClr val="CCFFFF"/>
              </a:gs>
            </a:gsLst>
            <a:lin ang="5400000" scaled="1"/>
          </a:gradFill>
          <a:ln w="9525">
            <a:solidFill>
              <a:srgbClr val="66CC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indent="187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ru-RU" altLang="ru-RU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Для профессий, работа которых сопряжена с вредными условиями труда, вводный инструктаж проводится по предъявлению ими приемной записки с отметкой о результатах предварительного медицинского осмотра</a:t>
            </a:r>
            <a:r>
              <a:rPr lang="ru-RU" altLang="ru-RU" sz="1400" b="1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381000" y="1974850"/>
            <a:ext cx="6248400" cy="1377950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50000">
                <a:srgbClr val="FFFFFF"/>
              </a:gs>
              <a:gs pos="100000">
                <a:srgbClr val="CCFFFF"/>
              </a:gs>
            </a:gsLst>
            <a:lin ang="5400000" scaled="1"/>
          </a:gradFill>
          <a:ln w="9525">
            <a:solidFill>
              <a:srgbClr val="66CC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indent="187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ru-RU" altLang="ru-RU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Вводный инструктаж проводится работником службы охраны труда</a:t>
            </a:r>
            <a:r>
              <a:rPr lang="ru-RU" altLang="ru-RU" sz="1400">
                <a:latin typeface="Times New Roman" panose="02020603050405020304" pitchFamily="18" charset="0"/>
                <a:cs typeface="Times New Roman" panose="02020603050405020304" pitchFamily="18" charset="0"/>
              </a:rPr>
              <a:t>, имеющим специальное техническое образование и производственный опыт, по программе, утвержденной руководителем организации. </a:t>
            </a:r>
          </a:p>
          <a:p>
            <a:pPr algn="just" eaLnBrk="1" hangingPunct="1"/>
            <a:r>
              <a:rPr lang="ru-RU" altLang="ru-RU" sz="1400">
                <a:latin typeface="Times New Roman" panose="02020603050405020304" pitchFamily="18" charset="0"/>
                <a:cs typeface="Times New Roman" panose="02020603050405020304" pitchFamily="18" charset="0"/>
              </a:rPr>
              <a:t>Для проведения вводного инструктажа по вопросам производственной санитарии и пожарной охраны целесообразно привлекать соответствующих специалистов.</a:t>
            </a: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381000" y="3505200"/>
            <a:ext cx="6248400" cy="1165225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50000">
                <a:srgbClr val="FFFFFF"/>
              </a:gs>
              <a:gs pos="100000">
                <a:srgbClr val="CCFFFF"/>
              </a:gs>
            </a:gsLst>
            <a:lin ang="5400000" scaled="1"/>
          </a:gradFill>
          <a:ln w="9525">
            <a:solidFill>
              <a:srgbClr val="66CC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indent="10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ru-RU" altLang="ru-RU" sz="1400">
                <a:latin typeface="Times New Roman" panose="02020603050405020304" pitchFamily="18" charset="0"/>
                <a:cs typeface="Times New Roman" panose="02020603050405020304" pitchFamily="18" charset="0"/>
              </a:rPr>
              <a:t>Вводный инструктаж содержит общие положения по охране труда и требования безопасности и производственной санитарии, соблюдение которых </a:t>
            </a:r>
            <a:r>
              <a:rPr lang="ru-RU" altLang="ru-RU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исключает возможность воздействия на работника опасных и вредных производственных факторов</a:t>
            </a:r>
            <a:r>
              <a:rPr lang="ru-RU" altLang="ru-RU" sz="1400">
                <a:latin typeface="Times New Roman" panose="02020603050405020304" pitchFamily="18" charset="0"/>
                <a:cs typeface="Times New Roman" panose="02020603050405020304" pitchFamily="18" charset="0"/>
              </a:rPr>
              <a:t> на территории предприятия (организации) и в структурных подразделениях. 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381000" y="4876800"/>
            <a:ext cx="6248400" cy="1590675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50000">
                <a:srgbClr val="FFFFFF"/>
              </a:gs>
              <a:gs pos="100000">
                <a:srgbClr val="CCFFFF"/>
              </a:gs>
            </a:gsLst>
            <a:lin ang="5400000" scaled="1"/>
          </a:gradFill>
          <a:ln w="9525">
            <a:solidFill>
              <a:srgbClr val="66CC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indent="187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ru-RU" altLang="ru-RU" sz="1400">
                <a:latin typeface="Times New Roman" panose="02020603050405020304" pitchFamily="18" charset="0"/>
                <a:cs typeface="Times New Roman" panose="02020603050405020304" pitchFamily="18" charset="0"/>
              </a:rPr>
              <a:t>Вводный инструктаж проводится </a:t>
            </a:r>
            <a:r>
              <a:rPr lang="ru-RU" altLang="ru-RU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в кабинете охраны труда</a:t>
            </a:r>
            <a:r>
              <a:rPr lang="ru-RU" altLang="ru-RU" sz="1400">
                <a:latin typeface="Times New Roman" panose="02020603050405020304" pitchFamily="18" charset="0"/>
                <a:cs typeface="Times New Roman" panose="02020603050405020304" pitchFamily="18" charset="0"/>
              </a:rPr>
              <a:t> или в специально оборудованном помещении с использованием наглядных пособий (инструкций, плакатов, натурных экспонатов, кинофильмов, диапозитивов, диафильмов, макетов и других технических средств обучения, отвечающих достижениям современной науки и техники применительно к специфике данного производства), а также с разбором характерных несчастных случаев, имевшихся на производстве.</a:t>
            </a:r>
          </a:p>
        </p:txBody>
      </p:sp>
      <p:pic>
        <p:nvPicPr>
          <p:cNvPr id="9224" name="Picture 8" descr="in00635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5029200"/>
            <a:ext cx="1828800" cy="141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5" name="Picture 9" descr="in00394_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3657600"/>
            <a:ext cx="11144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6" name="Picture 10" descr="in00378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3886200"/>
            <a:ext cx="1030288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914400" y="120650"/>
            <a:ext cx="7315200" cy="366713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Первичный инструктаж на рабочем мес</a:t>
            </a:r>
            <a:r>
              <a:rPr lang="ru-RU" altLang="ru-RU" b="1">
                <a:latin typeface="Times New Roman" panose="02020603050405020304" pitchFamily="18" charset="0"/>
              </a:rPr>
              <a:t>те</a:t>
            </a:r>
            <a:r>
              <a:rPr lang="ru-RU" altLang="ru-RU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304800" y="463550"/>
            <a:ext cx="8534400" cy="1338263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50000">
                <a:srgbClr val="FFFFFF"/>
              </a:gs>
              <a:gs pos="100000">
                <a:srgbClr val="CCFFFF"/>
              </a:gs>
            </a:gsLst>
            <a:lin ang="5400000" scaled="1"/>
          </a:gradFill>
          <a:ln w="9525">
            <a:solidFill>
              <a:srgbClr val="66CC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indent="187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Первичный инструктаж на рабочем месте проводит </a:t>
            </a:r>
            <a:r>
              <a:rPr lang="ru-RU" altLang="ru-RU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индивидуально с каждым рабочим</a:t>
            </a: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непосредственный руководитель работ (мастер, начальник участка),</a:t>
            </a: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 назначенный для проведения этой работы. Первичный инструктаж на рабочем месте знакомит рабочего с оборудованием и наличием опасных мест, и раскрывает методы правильной и безопасной работы на данном </a:t>
            </a:r>
            <a:r>
              <a:rPr lang="ru-RU" altLang="ru-RU" sz="1600">
                <a:latin typeface="Times New Roman" panose="02020603050405020304" pitchFamily="18" charset="0"/>
              </a:rPr>
              <a:t>рабочем месте или по данной специальности</a:t>
            </a:r>
            <a:r>
              <a:rPr lang="ru-RU" altLang="ru-RU" sz="170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1073150" y="1760538"/>
            <a:ext cx="7315200" cy="336550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на рабочем месте</a:t>
            </a:r>
            <a:r>
              <a:rPr lang="ru-RU" altLang="ru-RU" sz="16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317500" y="2139950"/>
            <a:ext cx="8534400" cy="1476375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50000">
                <a:srgbClr val="FFFFFF"/>
              </a:gs>
              <a:gs pos="100000">
                <a:srgbClr val="CCFFFF"/>
              </a:gs>
            </a:gsLst>
            <a:lin ang="5400000" scaled="1"/>
          </a:gradFill>
          <a:ln w="9525">
            <a:solidFill>
              <a:srgbClr val="66CC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indent="187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ru-RU" altLang="ru-RU" sz="1500">
                <a:latin typeface="Times New Roman" panose="02020603050405020304" pitchFamily="18" charset="0"/>
                <a:cs typeface="Times New Roman" panose="02020603050405020304" pitchFamily="18" charset="0"/>
              </a:rPr>
              <a:t>Вновь поступившие рабочие, не имеющие достаточного опыта и навыков в работе, </a:t>
            </a:r>
            <a:r>
              <a:rPr lang="ru-RU" altLang="ru-RU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прикрепляются к квалифицированным  рабочим</a:t>
            </a:r>
            <a:r>
              <a:rPr lang="ru-RU" altLang="ru-RU" sz="1500">
                <a:latin typeface="Times New Roman" panose="02020603050405020304" pitchFamily="18" charset="0"/>
                <a:cs typeface="Times New Roman" panose="02020603050405020304" pitchFamily="18" charset="0"/>
              </a:rPr>
              <a:t> для практического обучения безопасным</a:t>
            </a:r>
            <a:r>
              <a:rPr lang="ru-RU" altLang="ru-RU" sz="1500">
                <a:latin typeface="Times New Roman" panose="02020603050405020304" pitchFamily="18" charset="0"/>
              </a:rPr>
              <a:t> п</a:t>
            </a:r>
            <a:r>
              <a:rPr lang="ru-RU" altLang="ru-RU" sz="1500">
                <a:latin typeface="Times New Roman" panose="02020603050405020304" pitchFamily="18" charset="0"/>
                <a:cs typeface="Times New Roman" panose="02020603050405020304" pitchFamily="18" charset="0"/>
              </a:rPr>
              <a:t>риемам и методам труда. </a:t>
            </a:r>
          </a:p>
          <a:p>
            <a:pPr algn="just" eaLnBrk="1" hangingPunct="1"/>
            <a:r>
              <a:rPr lang="ru-RU" altLang="ru-RU" sz="150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на рабочем месте ведется </a:t>
            </a:r>
            <a:r>
              <a:rPr lang="ru-RU" altLang="ru-RU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под руководством инженерно-технического работника по программе, утвержденной начальником подразделения</a:t>
            </a:r>
            <a:r>
              <a:rPr lang="ru-RU" altLang="ru-RU" sz="1500">
                <a:latin typeface="Times New Roman" panose="02020603050405020304" pitchFamily="18" charset="0"/>
                <a:cs typeface="Times New Roman" panose="02020603050405020304" pitchFamily="18" charset="0"/>
              </a:rPr>
              <a:t>. Длительность обучения зависит от сложности профессии и специфики работы.</a:t>
            </a: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1073150" y="3579813"/>
            <a:ext cx="7315200" cy="366712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Повторный инструктаж </a:t>
            </a:r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317500" y="3984625"/>
            <a:ext cx="8534400" cy="2800350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50000">
                <a:srgbClr val="FFFFFF"/>
              </a:gs>
              <a:gs pos="100000">
                <a:srgbClr val="CCFFFF"/>
              </a:gs>
            </a:gsLst>
            <a:lin ang="5400000" scaled="1"/>
          </a:gradFill>
          <a:ln w="9525">
            <a:solidFill>
              <a:srgbClr val="66CC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indent="187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Повторный инструктаж рабочих </a:t>
            </a:r>
            <a:r>
              <a:rPr lang="ru-RU" altLang="ru-RU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проводится мастером производственного участка</a:t>
            </a: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под руководством которого работают данные рабочие, под контролем начальника цеха или его заместителя. </a:t>
            </a:r>
          </a:p>
          <a:p>
            <a:pPr algn="just" eaLnBrk="1" hangingPunct="1"/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Инструктаж начинается с </a:t>
            </a:r>
            <a:r>
              <a:rPr lang="ru-RU" altLang="ru-RU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ознакомления с приказами и распоряжениями, информационными письмами, направленными на предупреждение несчастных случаев и нарушений</a:t>
            </a: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 eaLnBrk="1" hangingPunct="1"/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Затем дается </a:t>
            </a:r>
            <a:r>
              <a:rPr lang="ru-RU" altLang="ru-RU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производственного травматизма с разбором фактов нарушений правил безопасности</a:t>
            </a: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допущенных рабочими производственного участка (используются записи в дневнике по технике безопасности и в журнале учета нарушения правил безопасности). </a:t>
            </a:r>
          </a:p>
          <a:p>
            <a:pPr algn="just" eaLnBrk="1" hangingPunct="1"/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Далее инструктаж проводится в соответствии с программой.</a:t>
            </a:r>
          </a:p>
        </p:txBody>
      </p:sp>
      <p:sp>
        <p:nvSpPr>
          <p:cNvPr id="10248" name="Text Box 10"/>
          <p:cNvSpPr txBox="1">
            <a:spLocks noChangeArrowheads="1"/>
          </p:cNvSpPr>
          <p:nvPr/>
        </p:nvSpPr>
        <p:spPr bwMode="auto">
          <a:xfrm>
            <a:off x="228600" y="76200"/>
            <a:ext cx="533400" cy="3937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600" b="1"/>
              <a:t>77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8"/>
          <p:cNvSpPr txBox="1">
            <a:spLocks noChangeArrowheads="1"/>
          </p:cNvSpPr>
          <p:nvPr/>
        </p:nvSpPr>
        <p:spPr bwMode="auto">
          <a:xfrm>
            <a:off x="1258888" y="404813"/>
            <a:ext cx="7315200" cy="366712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Внеплановый инструктаж на рабочем месте </a:t>
            </a:r>
          </a:p>
        </p:txBody>
      </p:sp>
      <p:sp>
        <p:nvSpPr>
          <p:cNvPr id="11267" name="Text Box 9"/>
          <p:cNvSpPr txBox="1">
            <a:spLocks noChangeArrowheads="1"/>
          </p:cNvSpPr>
          <p:nvPr/>
        </p:nvSpPr>
        <p:spPr bwMode="auto">
          <a:xfrm>
            <a:off x="579438" y="1196975"/>
            <a:ext cx="7994650" cy="3754438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50000">
                <a:srgbClr val="FFFFFF"/>
              </a:gs>
              <a:gs pos="100000">
                <a:srgbClr val="CCFFFF"/>
              </a:gs>
            </a:gsLst>
            <a:lin ang="5400000" scaled="1"/>
          </a:gradFill>
          <a:ln w="9525">
            <a:solidFill>
              <a:srgbClr val="66CC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indent="187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Инструктаж проводится </a:t>
            </a:r>
            <a:r>
              <a:rPr lang="ru-RU" altLang="ru-RU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со всем персоналом производственного участка (бригады) или с отдельными рабочими</a:t>
            </a:r>
            <a:r>
              <a:rPr lang="ru-RU" altLang="ru-RU" sz="1700" b="1">
                <a:latin typeface="Times New Roman" panose="02020603050405020304" pitchFamily="18" charset="0"/>
              </a:rPr>
              <a:t>.</a:t>
            </a:r>
            <a:r>
              <a:rPr lang="ru-RU" alt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Лица, с которыми произошли несчастные случаи, обязательно проходят инструктаж после выхода на работу.</a:t>
            </a:r>
            <a:endParaRPr lang="ru-RU" altLang="ru-RU" sz="170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При проведении инструктажа в связи с несчастным случаем или нарушением инструкции по охране труда доводятся приказ (распоряжение) по предприятию или цеху, информационные письма по несчастным случаям и нарушениям с подробным разбором обстоятельств, причин и профилактических мер, подробно объясняются отдельные требования инструкций с показом безопасных приемов в работе. </a:t>
            </a:r>
            <a:endParaRPr lang="ru-RU" altLang="ru-RU" sz="170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Перед началом работ повышенной опасности (газоопасных, на вы­соте и т.п.) обязательно всему персоналу, участвующему в работе, объясняются меры безопасности, а также основные требования инструкций по охране труда по выполняемой работе. Особое внимание уделяется объяснению требований, обеспечивающих согласованность действий всех участвующих в работе, и разбору нарушений и несчастных случаев, происшедших при аналогичной работе.</a:t>
            </a:r>
            <a:endParaRPr lang="ru-RU" altLang="ru-RU" sz="17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066800" y="609600"/>
            <a:ext cx="7239000" cy="701675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000" b="1">
                <a:latin typeface="Times New Roman" panose="02020603050405020304" pitchFamily="18" charset="0"/>
              </a:rPr>
              <a:t>Типовая инструкция по охране труда </a:t>
            </a:r>
          </a:p>
          <a:p>
            <a:pPr eaLnBrk="1" hangingPunct="1"/>
            <a:r>
              <a:rPr lang="ru-RU" altLang="ru-RU" sz="2000" b="1">
                <a:latin typeface="Times New Roman" panose="02020603050405020304" pitchFamily="18" charset="0"/>
              </a:rPr>
              <a:t>включает   разделы: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685800" y="1739900"/>
            <a:ext cx="6407150" cy="2298700"/>
          </a:xfrm>
          <a:prstGeom prst="rect">
            <a:avLst/>
          </a:prstGeom>
          <a:solidFill>
            <a:srgbClr val="FFFFCC"/>
          </a:solidFill>
          <a:ln w="9525">
            <a:solidFill>
              <a:srgbClr val="DDDDDD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b="1">
                <a:latin typeface="Courier New" panose="02070309020205020404" pitchFamily="49" charset="0"/>
                <a:ea typeface="MS Mincho" panose="02020609040205080304" pitchFamily="49" charset="-128"/>
              </a:rPr>
              <a:t>1. Общие требования охраны труда.</a:t>
            </a:r>
            <a:endParaRPr lang="ru-RU" altLang="ru-RU" b="1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b="1">
                <a:latin typeface="Courier New" panose="02070309020205020404" pitchFamily="49" charset="0"/>
                <a:ea typeface="MS Mincho" panose="02020609040205080304" pitchFamily="49" charset="-128"/>
              </a:rPr>
              <a:t>2. Требования охраны труда перед началом работы.</a:t>
            </a:r>
            <a:endParaRPr lang="ru-RU" altLang="ru-RU" b="1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b="1">
                <a:latin typeface="Courier New" panose="02070309020205020404" pitchFamily="49" charset="0"/>
                <a:ea typeface="MS Mincho" panose="02020609040205080304" pitchFamily="49" charset="-128"/>
              </a:rPr>
              <a:t>3. Требования охраны труда во время работы.</a:t>
            </a:r>
            <a:endParaRPr lang="ru-RU" altLang="ru-RU" b="1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b="1">
                <a:latin typeface="Courier New" panose="02070309020205020404" pitchFamily="49" charset="0"/>
                <a:ea typeface="MS Mincho" panose="02020609040205080304" pitchFamily="49" charset="-128"/>
              </a:rPr>
              <a:t>4. Требования охраны труда в аварийных ситуациях.</a:t>
            </a:r>
            <a:endParaRPr lang="ru-RU" altLang="ru-RU" b="1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b="1">
                <a:latin typeface="Courier New" panose="02070309020205020404" pitchFamily="49" charset="0"/>
                <a:ea typeface="MS Mincho" panose="02020609040205080304" pitchFamily="49" charset="-128"/>
              </a:rPr>
              <a:t>5. Требования охраны труда по окончании работы.</a:t>
            </a:r>
            <a:endParaRPr lang="ru-RU" altLang="ru-RU" sz="1600" b="1">
              <a:latin typeface="Times New Roman" panose="02020603050405020304" pitchFamily="18" charset="0"/>
            </a:endParaRPr>
          </a:p>
        </p:txBody>
      </p:sp>
      <p:pic>
        <p:nvPicPr>
          <p:cNvPr id="12292" name="Picture 4" descr="bd07156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744913"/>
            <a:ext cx="2590800" cy="219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5" descr="bd06779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5725" y="2768600"/>
            <a:ext cx="2479675" cy="309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6" descr="bs00673_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733800"/>
            <a:ext cx="3276600" cy="241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228600" y="152400"/>
            <a:ext cx="533400" cy="3937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600" b="1"/>
              <a:t>21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6"/>
          <p:cNvSpPr txBox="1">
            <a:spLocks noChangeArrowheads="1"/>
          </p:cNvSpPr>
          <p:nvPr/>
        </p:nvSpPr>
        <p:spPr bwMode="auto">
          <a:xfrm>
            <a:off x="533400" y="4564063"/>
            <a:ext cx="8153400" cy="200660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50000">
                <a:srgbClr val="FFFFFF"/>
              </a:gs>
              <a:gs pos="100000">
                <a:srgbClr val="FFFFCC"/>
              </a:gs>
            </a:gsLst>
            <a:lin ang="5400000" scaled="1"/>
          </a:gra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indent="187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</a:pPr>
            <a:r>
              <a:rPr lang="ru-RU" altLang="ru-RU" sz="1600" b="1">
                <a:solidFill>
                  <a:srgbClr val="FF3300"/>
                </a:solidFill>
                <a:cs typeface="Times New Roman" panose="02020603050405020304" pitchFamily="18" charset="0"/>
              </a:rPr>
              <a:t>Если в течение срока действия инструкции по охране труда для работника условия его труда не изменились,</a:t>
            </a:r>
            <a:r>
              <a:rPr lang="ru-RU" altLang="ru-RU" sz="1600" b="1">
                <a:cs typeface="Times New Roman" panose="02020603050405020304" pitchFamily="18" charset="0"/>
              </a:rPr>
              <a:t> то приказом (распоряжением) работодателя ее действие продлевается на следующий срок, о чем делается запись на первой странице инструкции </a:t>
            </a:r>
            <a:r>
              <a:rPr lang="ru-RU" altLang="ru-RU" sz="1600" b="1">
                <a:solidFill>
                  <a:srgbClr val="FF3300"/>
                </a:solidFill>
                <a:cs typeface="Times New Roman" panose="02020603050405020304" pitchFamily="18" charset="0"/>
              </a:rPr>
              <a:t>(ставятся текущая дата, штамп </a:t>
            </a:r>
            <a:r>
              <a:rPr lang="ru-RU" altLang="ru-RU" sz="1600" b="1">
                <a:solidFill>
                  <a:srgbClr val="FF3300"/>
                </a:solidFill>
              </a:rPr>
              <a:t>                                   </a:t>
            </a:r>
            <a:r>
              <a:rPr lang="ru-RU" altLang="ru-RU" sz="1600" b="1">
                <a:solidFill>
                  <a:srgbClr val="FF3300"/>
                </a:solidFill>
                <a:cs typeface="Times New Roman" panose="02020603050405020304" pitchFamily="18" charset="0"/>
              </a:rPr>
              <a:t>и подпись лица, ответственного за пересмотр инструкции, приводятся наименование его должности и расшифровка подписи, указывается срок продления инструкции).</a:t>
            </a:r>
            <a:endParaRPr lang="ru-RU" altLang="ru-RU" sz="1600">
              <a:solidFill>
                <a:srgbClr val="FF3300"/>
              </a:solidFill>
            </a:endParaRPr>
          </a:p>
        </p:txBody>
      </p:sp>
      <p:sp>
        <p:nvSpPr>
          <p:cNvPr id="13315" name="Text Box 2"/>
          <p:cNvSpPr txBox="1">
            <a:spLocks noChangeArrowheads="1"/>
          </p:cNvSpPr>
          <p:nvPr/>
        </p:nvSpPr>
        <p:spPr bwMode="auto">
          <a:xfrm>
            <a:off x="609600" y="233363"/>
            <a:ext cx="8001000" cy="376237"/>
          </a:xfrm>
          <a:prstGeom prst="rect">
            <a:avLst/>
          </a:prstGeom>
          <a:solidFill>
            <a:srgbClr val="EAEAEA"/>
          </a:solidFill>
          <a:ln w="9525">
            <a:solidFill>
              <a:srgbClr val="EAEAEA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b="1">
                <a:latin typeface="Times New Roman" panose="02020603050405020304" pitchFamily="18" charset="0"/>
              </a:rPr>
              <a:t>Срок действия</a:t>
            </a:r>
            <a:r>
              <a:rPr lang="ru-RU" alt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 инструкций по охране труда для работников</a:t>
            </a:r>
            <a:endParaRPr lang="ru-RU" altLang="ru-RU">
              <a:latin typeface="Times New Roman" panose="02020603050405020304" pitchFamily="18" charset="0"/>
            </a:endParaRPr>
          </a:p>
        </p:txBody>
      </p:sp>
      <p:sp>
        <p:nvSpPr>
          <p:cNvPr id="13316" name="Text Box 3"/>
          <p:cNvSpPr txBox="1">
            <a:spLocks noChangeArrowheads="1"/>
          </p:cNvSpPr>
          <p:nvPr/>
        </p:nvSpPr>
        <p:spPr bwMode="auto">
          <a:xfrm>
            <a:off x="533400" y="762000"/>
            <a:ext cx="8153400" cy="9477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6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Пересмотр </a:t>
            </a:r>
            <a:r>
              <a:rPr lang="ru-RU" altLang="ru-RU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инструкций должен производиться</a:t>
            </a:r>
            <a:r>
              <a:rPr lang="ru-RU" altLang="ru-RU" sz="16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b="1" u="sng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реже одного раза в 5 лет</a:t>
            </a:r>
            <a:r>
              <a:rPr lang="ru-RU" altLang="ru-RU" sz="1600" b="1">
                <a:solidFill>
                  <a:srgbClr val="FF3300"/>
                </a:solidFill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spcBef>
                <a:spcPct val="50000"/>
              </a:spcBef>
            </a:pPr>
            <a:r>
              <a:rPr lang="ru-RU" altLang="ru-RU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Проверку и пересмотр инструкций по охране труда для работников </a:t>
            </a:r>
            <a:r>
              <a:rPr lang="ru-RU" altLang="ru-RU" sz="16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организует работодатель. </a:t>
            </a:r>
          </a:p>
        </p:txBody>
      </p:sp>
      <p:sp>
        <p:nvSpPr>
          <p:cNvPr id="13317" name="Text Box 4"/>
          <p:cNvSpPr txBox="1">
            <a:spLocks noChangeArrowheads="1"/>
          </p:cNvSpPr>
          <p:nvPr/>
        </p:nvSpPr>
        <p:spPr bwMode="auto">
          <a:xfrm>
            <a:off x="533400" y="1905000"/>
            <a:ext cx="8153400" cy="336550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600" b="1">
                <a:cs typeface="Times New Roman" panose="02020603050405020304" pitchFamily="18" charset="0"/>
              </a:rPr>
              <a:t>Инструкции по охране труда для работников досрочно пересматриваются:</a:t>
            </a:r>
            <a:r>
              <a:rPr lang="ru-RU" altLang="ru-RU" sz="1600" b="1"/>
              <a:t> </a:t>
            </a:r>
          </a:p>
        </p:txBody>
      </p:sp>
      <p:sp>
        <p:nvSpPr>
          <p:cNvPr id="13318" name="Text Box 5"/>
          <p:cNvSpPr txBox="1">
            <a:spLocks noChangeArrowheads="1"/>
          </p:cNvSpPr>
          <p:nvPr/>
        </p:nvSpPr>
        <p:spPr bwMode="auto">
          <a:xfrm>
            <a:off x="533400" y="2286000"/>
            <a:ext cx="8153400" cy="20066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187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ru-RU" altLang="ru-RU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при пересмотре межотраслевых и отраслевых правил и типовых инструкций по охране труда;</a:t>
            </a:r>
          </a:p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ru-RU" altLang="ru-RU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изменении условий труда работников;</a:t>
            </a:r>
          </a:p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ru-RU" altLang="ru-RU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внедрении новой техники и технологии;</a:t>
            </a:r>
          </a:p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ru-RU" altLang="ru-RU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по результатам анализа материалов расследования аварий, несчастных случаев на производстве и профессиональных заболеваний;</a:t>
            </a:r>
          </a:p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ru-RU" altLang="ru-RU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по требованию представителей органов по труду субъектов Российской Федерации или органов федеральных надзоров России. </a:t>
            </a:r>
            <a:endParaRPr lang="ru-RU" altLang="ru-RU" sz="1400" b="1">
              <a:latin typeface="Times New Roman" panose="02020603050405020304" pitchFamily="18" charset="0"/>
            </a:endParaRP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228600" y="152400"/>
            <a:ext cx="533400" cy="3937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600" b="1"/>
              <a:t>25</a:t>
            </a:r>
          </a:p>
        </p:txBody>
      </p:sp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6096000" y="5549900"/>
            <a:ext cx="1905000" cy="393700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600" b="1">
                <a:solidFill>
                  <a:srgbClr val="FF3300"/>
                </a:solidFill>
                <a:cs typeface="Times New Roman" panose="02020603050405020304" pitchFamily="18" charset="0"/>
              </a:rPr>
              <a:t>«Пересмотрено»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458200" cy="6164263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50000">
                <a:srgbClr val="FFFFFF"/>
              </a:gs>
              <a:gs pos="100000">
                <a:srgbClr val="CCFFFF"/>
              </a:gs>
            </a:gsLst>
            <a:lin ang="0" scaled="1"/>
          </a:gradFill>
          <a:ln w="9525">
            <a:solidFill>
              <a:srgbClr val="66CC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ПРИМЕРНЫЙ ПЕРЕЧЕНЬ</a:t>
            </a:r>
            <a:endParaRPr lang="ru-RU" altLang="ru-RU" sz="14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ru-RU" altLang="ru-RU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ОСНОВНЫХ ВОПРОСОВ ПЕРВИЧНОГО ИНСТРУКТАЖА</a:t>
            </a:r>
            <a:endParaRPr lang="ru-RU" altLang="ru-RU" sz="14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ru-RU" altLang="ru-RU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НА РАБОЧЕМ МЕСТЕ</a:t>
            </a:r>
            <a:endParaRPr lang="ru-RU" altLang="ru-RU" sz="14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ru-RU" altLang="ru-RU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4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ru-RU" altLang="ru-RU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1. Общие сведения о технологическом процессе и оборудовании на данном рабочем месте, производственном участке, в цехе. Основные опасные и вредные производственные факторы, возникающие при данном технологическом процессе.</a:t>
            </a:r>
            <a:endParaRPr lang="ru-RU" altLang="ru-RU" sz="14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ru-RU" altLang="ru-RU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2. Безопасная организация и содержание рабочего места.</a:t>
            </a:r>
            <a:endParaRPr lang="ru-RU" altLang="ru-RU" sz="14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ru-RU" altLang="ru-RU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3. Опасные зоны машины, механизма, прибора. Средства безопасности оборудования (предохранительные тормозные устройства и ограждения, системы блокировки и сигнализации, знаки безопасности). Требования по предупреждению электротравматизма.</a:t>
            </a:r>
            <a:endParaRPr lang="ru-RU" altLang="ru-RU" sz="14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ru-RU" altLang="ru-RU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4. Порядок подготовки к работе (проверка исправности оборудования, пусковых приборов, инструмента и приспособлений, блокировок, заземления и других средств защиты).</a:t>
            </a:r>
            <a:endParaRPr lang="ru-RU" altLang="ru-RU" sz="14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ru-RU" altLang="ru-RU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5. Безопасные приемы и методы работы; действия при возникновении опасной ситуации.</a:t>
            </a:r>
            <a:endParaRPr lang="ru-RU" altLang="ru-RU" sz="14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ru-RU" altLang="ru-RU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6. Средства индивидуальной защиты на данном рабочем месте и правила пользования ими.</a:t>
            </a:r>
            <a:endParaRPr lang="ru-RU" altLang="ru-RU" sz="14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ru-RU" altLang="ru-RU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7. Схема безопасного передвижения работающих на территории цеха, участка.</a:t>
            </a:r>
            <a:endParaRPr lang="ru-RU" altLang="ru-RU" sz="14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ru-RU" altLang="ru-RU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8. Внутрицеховые транспортные и грузоподъемные средства и механизмы. Требования безопасности при погрузочно - разгрузочных работах и транспортировке грузов.</a:t>
            </a:r>
            <a:endParaRPr lang="ru-RU" altLang="ru-RU" sz="14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ru-RU" altLang="ru-RU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9. Характерные причины аварий, взрывов, пожаров, случаев производственных травм.</a:t>
            </a:r>
            <a:endParaRPr lang="ru-RU" altLang="ru-RU" sz="14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ru-RU" altLang="ru-RU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10. Меры предупреждения аварий, взрывов, пожаров. Обязанность и действия при аварии, взрыве, пожаре. Способы применения имеющихся на участке средств пожаротушения, противоаварийной защиты и сигнализации</a:t>
            </a:r>
            <a:r>
              <a:rPr lang="ru-RU" altLang="ru-RU" sz="1400" i="1">
                <a:latin typeface="Times New Roman" panose="02020603050405020304" pitchFamily="18" charset="0"/>
              </a:rPr>
              <a:t>,</a:t>
            </a:r>
            <a:r>
              <a:rPr lang="ru-RU" altLang="ru-RU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 места их расположения.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Оформление по умолчанию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7714</TotalTime>
  <Words>1699</Words>
  <PresentationFormat>Экран (4:3)</PresentationFormat>
  <Paragraphs>115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Courier New</vt:lpstr>
      <vt:lpstr>MS Mincho</vt:lpstr>
      <vt:lpstr>Symbol</vt:lpstr>
      <vt:lpstr>Times New Roman</vt:lpstr>
      <vt:lpstr>Оформление по умолчанию</vt:lpstr>
      <vt:lpstr>Тема: Организация охраны труда на предприятиях.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2002-02-18T19:27:46Z</dcterms:created>
  <dcterms:modified xsi:type="dcterms:W3CDTF">2022-08-17T12:30:54Z</dcterms:modified>
</cp:coreProperties>
</file>